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73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7" r:id="rId24"/>
    <p:sldId id="278" r:id="rId25"/>
    <p:sldId id="272" r:id="rId15"/>
    <p:sldId id="279" r:id="rId26"/>
    <p:sldId id="274" r:id="rId16"/>
    <p:sldId id="275" r:id="rId17"/>
    <p:sldId id="276" r:id="rId1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90D6F-2E97-4058-9836-8441610350CB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D06A5-5C97-424D-B2C7-FC2ADC0B8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ED06A5-5C97-424D-B2C7-FC2ADC0B896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16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ED06A5-5C97-424D-B2C7-FC2ADC0B896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52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58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7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0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9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0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28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15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99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3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12-sep-26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12-sep-26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House Price Prediction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4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hyperlink" Target="https://doi.org/10.1051/itmconf/20258001031" TargetMode="External"/><Relationship Id="rId13" Type="http://schemas.openxmlformats.org/officeDocument/2006/relationships/hyperlink" Target="https://doi.org/10.21203/rs.3.rs-7840588/v1" TargetMode="External"/><Relationship Id="rId14" Type="http://schemas.openxmlformats.org/officeDocument/2006/relationships/hyperlink" Target="https://www.atlantis-press.com/proceedings/iciaai-25/126015268" TargetMode="External"/><Relationship Id="rId16" Type="http://schemas.openxmlformats.org/officeDocument/2006/relationships/hyperlink" Target="https://jmlr.org/papers/v12/pedregosa11a.html" TargetMode="External"/><Relationship Id="rId17" Type="http://schemas.openxmlformats.org/officeDocument/2006/relationships/hyperlink" Target="https://flask.palletsprojects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073" y="99117"/>
            <a:ext cx="11662756" cy="3009842"/>
          </a:xfrm>
        </p:spPr>
        <p:txBody>
          <a:bodyPr>
            <a:normAutofit fontScale="90000"/>
          </a:bodyPr>
          <a:lstStyle/>
          <a:p>
            <a:pPr lvl="0" indent="457200" algn="ctr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  <a:t>Semester Project – I  |  Final Submission (100%)</a:t>
            </a:r>
            <a:b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  <a:t>“HOUSE PRICE PREDICTION”</a:t>
            </a:r>
            <a:b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By</a:t>
            </a:r>
            <a:b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Khushi Anil Patil </a:t>
            </a:r>
            <a: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(251103033  &amp; 104)</a:t>
            </a:r>
            <a:b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Chetana Vijay Kolhe </a:t>
            </a:r>
            <a: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(251104026  &amp;  105)</a:t>
            </a:r>
            <a:b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Swara Jitendra Chaudhari</a:t>
            </a:r>
            <a: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(251108108 &amp; 90)</a:t>
            </a:r>
            <a:br>
              <a:rPr lang="en-US" sz="1800" dirty="0">
                <a:latin typeface="Cambria" panose="020405030504060302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Apeksha Rajendra Baviskar</a:t>
            </a:r>
            <a: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(251108082 &amp; 68)</a:t>
            </a:r>
            <a:b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</a:br>
            <a:br>
              <a:rPr lang="en-US" sz="1800" dirty="0"/>
            </a:br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Under the Guidance of </a:t>
            </a:r>
            <a:br>
              <a:rPr lang="en-US" sz="1800" dirty="0"/>
            </a:br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Prof. Tushant A. Tayde</a:t>
            </a:r>
            <a:br>
              <a:rPr lang="en-US" sz="4800" b="1" dirty="0">
                <a:solidFill>
                  <a:srgbClr val="993300"/>
                </a:solidFill>
                <a:latin typeface="Ajile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3" y="5320780"/>
            <a:ext cx="11662756" cy="1345716"/>
          </a:xfrm>
        </p:spPr>
        <p:txBody>
          <a:bodyPr>
            <a:norm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Department of Artificial Intelligence and Data Science</a:t>
            </a:r>
            <a:endParaRPr lang="en-US" sz="1900" b="1" dirty="0">
              <a:solidFill>
                <a:srgbClr val="993300"/>
              </a:solidFill>
              <a:latin typeface="Ajile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sz="1900" b="1" dirty="0" err="1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Shirpur</a:t>
            </a: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Education Society’s</a:t>
            </a:r>
            <a:endParaRPr lang="en-US" sz="1900" dirty="0"/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R. C. Patel Institute of Technology, </a:t>
            </a:r>
            <a:r>
              <a:rPr lang="en-US" sz="1900" b="1" dirty="0" err="1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Shirpur</a:t>
            </a: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- 425405.</a:t>
            </a:r>
            <a:endParaRPr lang="en-US" sz="1900" dirty="0"/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[2026-27]</a:t>
            </a:r>
            <a:r>
              <a:rPr lang="en-US" sz="1900" b="1" dirty="0">
                <a:solidFill>
                  <a:srgbClr val="00008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endParaRPr lang="en-US" sz="1900" dirty="0">
              <a:latin typeface="Arial" panose="020B0604020202020204" pitchFamily="34" charset="0"/>
            </a:endParaRPr>
          </a:p>
        </p:txBody>
      </p:sp>
      <p:pic>
        <p:nvPicPr>
          <p:cNvPr id="4" name="Picture 1" descr="SE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496" y="2983796"/>
            <a:ext cx="2624776" cy="229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8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3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1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03219" y="1309122"/>
            <a:ext cx="406393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&amp; Team Introduction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Completion Status &amp; Results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461703"/>
            <a:ext cx="2743200" cy="396296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82312FF-EA94-0FD5-7F00-A6A5184C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9090"/>
            <a:ext cx="4114800" cy="308909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9E09631-55C5-532F-0014-AFEE68DC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49091"/>
            <a:ext cx="2743200" cy="308910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363293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 dirty="0">
                <a:solidFill>
                  <a:srgbClr val="1E2761"/>
                </a:solidFill>
                <a:latin typeface="Times New Roman"/>
              </a:rPr>
              <a:t>Project Title &amp; Team Introduction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A1A1A"/>
                </a:solidFill>
                <a:latin typeface="Times New Roman"/>
              </a:rPr>
              <a:t>Project Title: “House Price Prediction” – an ML-powered web application (Appraise) for instant property valuation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One-line pitch: enter a property's details and get an instant, data-driven price estimate in Indian Rupees</a:t>
            </a: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A1A1A"/>
                </a:solidFill>
                <a:latin typeface="Times New Roman"/>
              </a:rPr>
              <a:t>Team Members:</a:t>
            </a:r>
          </a:p>
          <a:p>
            <a:pPr lvl="1">
              <a:spcAft>
                <a:spcPts val="1000"/>
              </a:spcAft>
            </a:pPr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Apeksha Rajendra Baviskar</a:t>
            </a:r>
            <a:r>
              <a:rPr lang="en-US" sz="1800" dirty="0">
                <a:latin typeface="Cambria" panose="02040503050406030204" pitchFamily="18" charset="0"/>
                <a:ea typeface="Times New Roman" panose="02020603050405020304" pitchFamily="18" charset="0"/>
              </a:rPr>
              <a:t> (251108082  &amp; 68)</a:t>
            </a:r>
            <a:br>
              <a:rPr lang="en-US" sz="1800" dirty="0"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sz="1800" b="0" dirty="0">
              <a:latin typeface="Times New Roman"/>
            </a:endParaRPr>
          </a:p>
          <a:p>
            <a:pPr lvl="1">
              <a:spcAft>
                <a:spcPts val="1000"/>
              </a:spcAft>
            </a:pPr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Swara Jitendra Chaudhari </a:t>
            </a:r>
            <a:r>
              <a:rPr lang="en-US" sz="1800" dirty="0">
                <a:latin typeface="Cambria" panose="02040503050406030204" pitchFamily="18" charset="0"/>
                <a:ea typeface="Times New Roman" panose="02020603050405020304" pitchFamily="18" charset="0"/>
              </a:rPr>
              <a:t>(251108108  &amp;  90)</a:t>
            </a:r>
            <a:br>
              <a:rPr lang="en-US" sz="1800" dirty="0"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sz="1800" b="0" dirty="0">
              <a:latin typeface="Times New Roman"/>
            </a:endParaRPr>
          </a:p>
          <a:p>
            <a:pPr lvl="1">
              <a:spcAft>
                <a:spcPts val="1000"/>
              </a:spcAft>
            </a:pPr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Khushi Anil Patil </a:t>
            </a:r>
            <a:r>
              <a:rPr lang="en-US" sz="1800" dirty="0">
                <a:latin typeface="Cambria" panose="02040503050406030204" pitchFamily="18" charset="0"/>
                <a:ea typeface="Times New Roman" panose="02020603050405020304" pitchFamily="18" charset="0"/>
              </a:rPr>
              <a:t>(251103033  &amp; 104)</a:t>
            </a:r>
            <a:br>
              <a:rPr lang="en-US" sz="1800" dirty="0"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sz="1800" b="0" dirty="0">
              <a:latin typeface="Times New Roman"/>
            </a:endParaRPr>
          </a:p>
          <a:p>
            <a:pPr lvl="1">
              <a:spcAft>
                <a:spcPts val="1000"/>
              </a:spcAft>
            </a:pPr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Chetana Vijay Kolhe </a:t>
            </a:r>
            <a:r>
              <a:rPr lang="en-US" sz="1800" dirty="0">
                <a:latin typeface="Cambria" panose="02040503050406030204" pitchFamily="18" charset="0"/>
                <a:ea typeface="Times New Roman" panose="02020603050405020304" pitchFamily="18" charset="0"/>
              </a:rPr>
              <a:t>(251104026  &amp;  105)</a:t>
            </a:r>
            <a:br>
              <a:rPr lang="en-US" sz="1800" dirty="0"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en-US" sz="1800" b="0" dirty="0">
              <a:latin typeface="Times New Roman"/>
            </a:endParaRP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A1A1A"/>
                </a:solidFill>
                <a:latin typeface="Times New Roman"/>
              </a:rPr>
              <a:t>Guided by: Prof. </a:t>
            </a:r>
            <a:r>
              <a:rPr lang="en-US" sz="2000" b="1" dirty="0">
                <a:solidFill>
                  <a:srgbClr val="1A1A1A"/>
                </a:solidFill>
                <a:latin typeface="Times New Roman"/>
              </a:rPr>
              <a:t>Tushant. A .Tayde</a:t>
            </a:r>
            <a:r>
              <a:rPr sz="2000" b="1" dirty="0">
                <a:solidFill>
                  <a:srgbClr val="1A1A1A"/>
                </a:solidFill>
                <a:latin typeface="Times New Roman"/>
              </a:rPr>
              <a:t>, Department of Artificial Intelligence and Data Science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613793"/>
          </a:xfrm>
        </p:spPr>
        <p:txBody>
          <a:bodyPr/>
          <a:lstStyle/>
          <a:p>
            <a:fld id="{64E2A06E-FD01-4319-9BA2-A5A831CBF123}" type="slidenum">
              <a:rPr lang="en-US" sz="14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fld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40374-088F-69AF-B138-DF73BFC5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13793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153C2-0E58-CC0D-E8C2-3C0FB9A4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49091"/>
            <a:ext cx="2743200" cy="283356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244158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 dirty="0">
                <a:solidFill>
                  <a:srgbClr val="1E2761"/>
                </a:solidFill>
                <a:latin typeface="Times New Roman"/>
              </a:rPr>
              <a:t>Domain Overview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Domain: Machine Learning applied to Real Estate / </a:t>
            </a:r>
            <a:r>
              <a:rPr sz="2000" b="0" dirty="0" err="1">
                <a:solidFill>
                  <a:srgbClr val="1A1A1A"/>
                </a:solidFill>
                <a:latin typeface="Times New Roman"/>
              </a:rPr>
              <a:t>PropTech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Property prices depend on many interacting factors — size, rooms, amenities, and location — which makes manual valuation slow and inconsistent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Regression-based ML models learn these relationships directly from data, producing fast and repeatable price estimates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The industry already relies on this idea — portals such as Zillow's “Zestimate” use ML-driven valuation as a core feature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This project applies the same principle at a focused scale: a self-contained estimator trained on structured property features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639673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A83E6-6C5F-C307-EA70-53B2AAEC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579288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0DB73ED-3632-6C63-2BF0-2AF7BD3C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61703"/>
            <a:ext cx="2743200" cy="347160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402276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Problem Statement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Traditional home valuation relies on manual appraisal — slow, costly, and inconsistent across appraisers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Buyers and sellers often have no quick, independent reference price before they negotiate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Most property listings do not explain why a price is what it is, in terms of the property's own features</a:t>
            </a: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A1A1A"/>
                </a:solidFill>
                <a:latin typeface="Times New Roman"/>
              </a:rPr>
              <a:t>Need: a lightweight tool that takes standard property details (area, rooms, amenities) and returns an instant, consistent and data-driven price estimate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396587" y="6456200"/>
            <a:ext cx="11398826" cy="332471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464500"/>
            <a:ext cx="2743200" cy="388859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C3EB3-3896-D1AE-580B-BC830A65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9091"/>
            <a:ext cx="4114800" cy="252212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91590C9-94DF-A9F4-B251-1889D722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501650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3470229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Literature Survey</a:t>
            </a: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631046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874519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Author(s) &amp; Year</a:t>
                      </a:r>
                    </a:p>
                  </a:txBody>
                  <a:tcPr marL="60000" marR="60000" marT="30000" marB="300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Technique(s) Used</a:t>
                      </a:r>
                    </a:p>
                  </a:txBody>
                  <a:tcPr marL="60000" marR="60000" marT="30000" marB="300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Key Finding</a:t>
                      </a:r>
                    </a:p>
                  </a:txBody>
                  <a:tcPr marL="60000" marR="60000" marT="30000" marB="300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Jing, Y. (2025)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Linear Regression, Decision Tree, Random Forest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Random Forest gave the best balance of accuracy and generalization on the California Housing dataset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Mahmoudi, Y. (2023)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GA + ANOVA feature selection with XGBoost, Random Forest, CatBoost, AdaBoost, GBDT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Optimized ensemble boosting models consistently outperformed single learners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Billah, M. A. M. (2025)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Linear/Ridge/Lasso Regression vs. Random Forest, XGBoost, LightGBM, CatBoost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CatBoost achieved the lowest error; boosted-tree models beat linear baselines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Comparative ML Study (2024)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Linear Regression, KNN, Random Forest, Gradient Boosting, Neural Network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Gradient Boosting reached the highest R² (0.92) on a Kaggle housing dataset; KNN performed worst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Fu, Y. (2024)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1A1A1A"/>
                          </a:solidFill>
                          <a:latin typeface="Times New Roman"/>
                        </a:rPr>
                        <a:t>Linear Regression vs. Random Forest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1A1A1A"/>
                          </a:solidFill>
                          <a:latin typeface="Times New Roman"/>
                        </a:rPr>
                        <a:t>Random Forest outperformed Linear Regression on MAE, RMSE, R², and MAPE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FE72FB-85DF-52ED-1331-419E8872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31046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7DC8FB8-A0DD-B5AA-5F75-7FAF816A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631046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489212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Research Gap &amp; Motivation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Most published studies compare models offline on Kaggle-style CSVs — few package the winning model behind a usable interface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Tree-based ensembles (Random Forest, Gradient Boosting, </a:t>
            </a:r>
            <a:r>
              <a:rPr sz="2000" b="0" dirty="0" err="1">
                <a:solidFill>
                  <a:srgbClr val="1A1A1A"/>
                </a:solidFill>
                <a:latin typeface="Times New Roman"/>
              </a:rPr>
              <a:t>XGBoost</a:t>
            </a:r>
            <a:r>
              <a:rPr sz="2000" b="0" dirty="0">
                <a:solidFill>
                  <a:srgbClr val="1A1A1A"/>
                </a:solidFill>
                <a:latin typeface="Times New Roman"/>
              </a:rPr>
              <a:t/>
            </a:r>
            <a:r>
              <a:rPr sz="2000" b="0" dirty="0" err="1">
                <a:solidFill>
                  <a:srgbClr val="1A1A1A"/>
                </a:solidFill>
                <a:latin typeface="Times New Roman"/>
              </a:rPr>
              <a:t/>
            </a:r>
            <a:r>
              <a:rPr sz="2000" b="0" dirty="0">
                <a:solidFill>
                  <a:srgbClr val="1A1A1A"/>
                </a:solidFill>
                <a:latin typeface="Times New Roman"/>
              </a:rPr>
              <a:t>) repeatedly beat plain Linear Regression across studies — we chose Random Forest for its accuracy, robustness and low tuning effort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A1A1A"/>
                </a:solidFill>
                <a:latin typeface="Times New Roman"/>
              </a:rPr>
              <a:t>Many public housing datasets are region-specific and are not reusable end-to-end with a deployable pipeline</a:t>
            </a: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A1A1A"/>
                </a:solidFill>
                <a:latin typeface="Times New Roman"/>
              </a:rPr>
              <a:t>Gap addressed here: a complete pipeline — realistic data generation → trained Random Forest model → Flask REST API → browser-based UI — so the model is directly usable, not just benchmarked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396587" y="654153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581159" y="6496414"/>
            <a:ext cx="2743200" cy="365125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95B0EF-9905-4DDD-C07D-979E17FE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48299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23C71C7-D99D-022B-6DF0-C7D8C96E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648299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399121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Comparative Analysis</a:t>
            </a: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639673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74519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Aspect</a:t>
                      </a:r>
                    </a:p>
                  </a:txBody>
                  <a:tcPr marL="60000" marR="60000" marT="30000" marB="300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Traditional Appraisal</a:t>
                      </a:r>
                    </a:p>
                  </a:txBody>
                  <a:tcPr marL="60000" marR="60000" marT="30000" marB="300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Generic Portal Estimate</a:t>
                      </a:r>
                    </a:p>
                  </a:txBody>
                  <a:tcPr marL="60000" marR="60000" marT="30000" marB="300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System (Appraise)</a:t>
                      </a:r>
                    </a:p>
                  </a:txBody>
                  <a:tcPr marL="60000" marR="60000" marT="30000" marB="300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Speed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Days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Instant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Instant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Cost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Paid, per visit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Free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Free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Inputs considered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Full site visit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Location + broad stats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12 property-specific fields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Output presented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Written valuation report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Single generic number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Instant price in Indian Rupees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Customizable per property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Yes (manual)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Limited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Times New Roman"/>
                        </a:rPr>
                        <a:t>Yes, instantly from the browser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39D33-03CC-D36B-2EEB-84AF8604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39673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B8B4797-A750-0146-DB81-BED8FC527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639673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4094273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Proposed Methodology – System Architecture</a:t>
            </a: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656925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7486" y="2514600"/>
            <a:ext cx="1874519" cy="14173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rIns="6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Browser UI</a:t>
            </a:r>
          </a:p>
          <a:p>
            <a:pPr algn="ctr"/>
            <a:r>
              <a:rPr sz="1100">
                <a:solidFill>
                  <a:srgbClr val="E3E6F5"/>
                </a:solidFill>
                <a:latin typeface="Times New Roman"/>
              </a:rPr>
              <a:t>User enters property
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28037" y="2514600"/>
            <a:ext cx="1874519" cy="1417320"/>
          </a:xfrm>
          <a:prstGeom prst="roundRect">
            <a:avLst/>
          </a:prstGeom>
          <a:solidFill>
            <a:srgbClr val="3B4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rIns="6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Flask API</a:t>
            </a:r>
          </a:p>
          <a:p>
            <a:pPr algn="ctr"/>
            <a:r>
              <a:rPr sz="1100">
                <a:solidFill>
                  <a:srgbClr val="E3E6F5"/>
                </a:solidFill>
                <a:latin typeface="Times New Roman"/>
              </a:rPr>
              <a:t>POST
/api/predict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8588" y="2514600"/>
            <a:ext cx="1874519" cy="14173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rIns="6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Preprocessing</a:t>
            </a:r>
          </a:p>
          <a:p>
            <a:pPr algn="ctr"/>
            <a:r>
              <a:rPr sz="1100">
                <a:solidFill>
                  <a:srgbClr val="E3E6F5"/>
                </a:solidFill>
                <a:latin typeface="Times New Roman"/>
              </a:rPr>
              <a:t>One-hot encode +
pass-through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9139" y="2514600"/>
            <a:ext cx="1874519" cy="1417320"/>
          </a:xfrm>
          <a:prstGeom prst="roundRect">
            <a:avLst/>
          </a:prstGeom>
          <a:solidFill>
            <a:srgbClr val="3B4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rIns="6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Trained Model</a:t>
            </a:r>
          </a:p>
          <a:p>
            <a:pPr algn="ctr"/>
            <a:r>
              <a:rPr sz="1100">
                <a:solidFill>
                  <a:srgbClr val="E3E6F5"/>
                </a:solidFill>
                <a:latin typeface="Times New Roman"/>
              </a:rPr>
              <a:t>Random Forest
Regressor (.pkl)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9690" y="2514600"/>
            <a:ext cx="1874519" cy="14173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rIns="6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JSON Response</a:t>
            </a:r>
          </a:p>
          <a:p>
            <a:pPr algn="ctr"/>
            <a:r>
              <a:rPr sz="1100">
                <a:solidFill>
                  <a:srgbClr val="E3E6F5"/>
                </a:solidFill>
                <a:latin typeface="Times New Roman"/>
              </a:rPr>
              <a:t>estimate +
formatted price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72005" y="3113532"/>
            <a:ext cx="256032" cy="219456"/>
          </a:xfrm>
          <a:prstGeom prst="rightArrow">
            <a:avLst/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902556" y="3113532"/>
            <a:ext cx="256032" cy="219456"/>
          </a:xfrm>
          <a:prstGeom prst="rightArrow">
            <a:avLst/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033107" y="3113532"/>
            <a:ext cx="256032" cy="219456"/>
          </a:xfrm>
          <a:prstGeom prst="rightArrow">
            <a:avLst/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9163658" y="3113532"/>
            <a:ext cx="256032" cy="219456"/>
          </a:xfrm>
          <a:prstGeom prst="rightArrow">
            <a:avLst/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>
                <a:solidFill>
                  <a:srgbClr val="1A1A1A"/>
                </a:solidFill>
                <a:latin typeface="Times New Roman"/>
              </a:rPr>
              <a:t>The response travels back the same path: the UI reads the JSON and renders the estimated price live, with no page reload.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3084C-D204-6208-661D-B4626775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56925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D9249CE-C8E1-3B82-5300-9F5A5322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656925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250784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Proposed Methodology – Dataset &amp; Model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12 input features: area, bedrooms, bathrooms, stories, parking (numeric); mainroad, guestroom, basement, hotwaterheating, airconditioning, prefarea (amenities); furnishingstatus (categorical)</a:t>
            </a:r>
            <a:endParaRPr lang="en-US"/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Dataset: a 2,200-row synthetic-but-realistic dataset (fixed seed) with plausible price relationships — automatically replaced by a real Housing.csv of the same schema when supplied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Preprocessing: ColumnTransformer — numeric features passed through, six yes/no features and furnishingstatus one-hot encoded, all bundled inside one scikit-learn Pipeline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Model: RandomForestRegressor (n_estimators=400, max_depth=14, min_samples_leaf=2), trained on an 80/20 split (1,760 train / 440 test rows)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1A"/>
                </a:solidFill>
                <a:latin typeface="Times New Roman"/>
              </a:rPr>
              <a:t>Final test performance: R² = 0.949 and MAE ≈ Rs. 3.55 lakh on the held-out test set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622420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76A0B-DF58-A7E1-7C84-D166A5DF6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22420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069D6A0-FFC7-3645-0C8B-8F31F05F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622420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954940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Proposed Methodology – Application Workflow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Backend: a Flask app (app.py) loads the trained pipeline (model.pkl) once on first use and exposes POST /api/predict and GET /api/health</a:t>
            </a:r>
            <a:endParaRPr lang="en-US"/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Frontend: a plain HTML/CSS/JS estimator form — no build step; calls the API with the Fetch API and shows a live “Model status” indicator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Request flow: form submit → JSON payload → Flask validates inputs → model.predict() → JSON { price, formatted_price }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The UI renders the price in an animated appraisal stamp with no page reload; invalid input returns clear 400 errors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605167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5C553-F373-5187-0E73-C19E10F8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05167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B44EF56-4231-A970-84AE-AECCAD6F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026" y="6356350"/>
            <a:ext cx="2658373" cy="605167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374745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Software and Hardware Requirements</a:t>
            </a: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613793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1874519"/>
          <a:ext cx="10332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Software Requirements</a:t>
                      </a:r>
                    </a:p>
                  </a:txBody>
                  <a:tcPr marL="60000" marR="60000" marT="30000" marB="300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Hardware Requirements</a:t>
                      </a:r>
                    </a:p>
                  </a:txBody>
                  <a:tcPr marL="60000" marR="60000" marT="30000" marB="300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Python 3.10 or later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Standard PC / laptop (dual-core or better)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Flask ≥ 3.0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4 GB RAM minimum (8 GB recommended)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scikit-learn ≥ 1.4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≈200 MB free disk space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pandas ≥ 2.0, NumPy ≥ 1.26, joblib ≥ 1.3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Internet connection (only for initial package install)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HTML5, CSS3, JavaScript (no build tools)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Any modern web browser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Code editor (e.g., VS Code)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60000" marR="60000" marT="30000" marB="30000" anchor="ctr">
                    <a:solidFill>
                      <a:srgbClr val="F2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7056B-6A2D-7E00-F11F-E9866107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13793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B9108F-0CA6-A97E-567D-9FFCD9F94B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613793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4028478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Timeline / Gantt Chart – 100% Complete</a:t>
            </a: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587914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1" name="Progress label 101"/>
          <p:cNvSpPr txBox="1"/>
          <p:nvPr/>
        </p:nvSpPr>
        <p:spPr>
          <a:xfrm>
            <a:off x="640080" y="1500000"/>
            <a:ext cx="19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400" b="1" i="0" dirty="0">
                <a:solidFill>
                  <a:srgbClr val="1E2761"/>
                </a:solidFill>
                <a:latin typeface="Times New Roman"/>
                <a:cs typeface="Times New Roman"/>
              </a:rPr>
              <a:t>Overall Progress</a:t>
            </a:r>
          </a:p>
        </p:txBody>
      </p:sp>
      <p:sp>
        <p:nvSpPr>
          <p:cNvPr id="102" name="Progress track 102"/>
          <p:cNvSpPr/>
          <p:nvPr/>
        </p:nvSpPr>
        <p:spPr>
          <a:xfrm>
            <a:off x="2590080" y="1540000"/>
            <a:ext cx="7300000" cy="22000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03" name="Progress fill 103"/>
          <p:cNvSpPr/>
          <p:nvPr/>
        </p:nvSpPr>
        <p:spPr>
          <a:xfrm>
            <a:off x="2590080" y="1540000"/>
            <a:ext cx="7300000" cy="22000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04" name="Progress pct 104"/>
          <p:cNvSpPr txBox="1"/>
          <p:nvPr/>
        </p:nvSpPr>
        <p:spPr>
          <a:xfrm>
            <a:off x="9990080" y="1500000"/>
            <a:ext cx="1531359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US" sz="1400" b="1" i="0" dirty="0">
                <a:solidFill>
                  <a:srgbClr val="2E9E5B"/>
                </a:solidFill>
                <a:latin typeface="Times New Roman"/>
                <a:cs typeface="Times New Roman"/>
              </a:rPr>
              <a:t>100% Complete</a:t>
            </a:r>
          </a:p>
        </p:txBody>
      </p:sp>
      <p:sp>
        <p:nvSpPr>
          <p:cNvPr id="105" name="Header 105"/>
          <p:cNvSpPr/>
          <p:nvPr/>
        </p:nvSpPr>
        <p:spPr>
          <a:xfrm>
            <a:off x="640080" y="1900000"/>
            <a:ext cx="10881359" cy="340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06" name="Hdr phase 106"/>
          <p:cNvSpPr txBox="1"/>
          <p:nvPr/>
        </p:nvSpPr>
        <p:spPr>
          <a:xfrm>
            <a:off x="770080" y="1900000"/>
            <a:ext cx="397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200" b="1" i="0" dirty="0">
                <a:solidFill>
                  <a:srgbClr val="FFFFFF"/>
                </a:solidFill>
                <a:latin typeface="Times New Roman"/>
                <a:cs typeface="Times New Roman"/>
              </a:rPr>
              <a:t>Phase  &amp;  Deliverable</a:t>
            </a:r>
          </a:p>
        </p:txBody>
      </p:sp>
      <p:sp>
        <p:nvSpPr>
          <p:cNvPr id="107" name="Hdr week 107"/>
          <p:cNvSpPr txBox="1"/>
          <p:nvPr/>
        </p:nvSpPr>
        <p:spPr>
          <a:xfrm>
            <a:off x="4740080" y="1900000"/>
            <a:ext cx="50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W1</a:t>
            </a:r>
          </a:p>
        </p:txBody>
      </p:sp>
      <p:sp>
        <p:nvSpPr>
          <p:cNvPr id="108" name="Hdr week 108"/>
          <p:cNvSpPr txBox="1"/>
          <p:nvPr/>
        </p:nvSpPr>
        <p:spPr>
          <a:xfrm>
            <a:off x="5240080" y="1900000"/>
            <a:ext cx="50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W2</a:t>
            </a:r>
          </a:p>
        </p:txBody>
      </p:sp>
      <p:sp>
        <p:nvSpPr>
          <p:cNvPr id="109" name="Hdr week 109"/>
          <p:cNvSpPr txBox="1"/>
          <p:nvPr/>
        </p:nvSpPr>
        <p:spPr>
          <a:xfrm>
            <a:off x="5740080" y="1900000"/>
            <a:ext cx="50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W3</a:t>
            </a:r>
          </a:p>
        </p:txBody>
      </p:sp>
      <p:sp>
        <p:nvSpPr>
          <p:cNvPr id="110" name="Hdr week 110"/>
          <p:cNvSpPr txBox="1"/>
          <p:nvPr/>
        </p:nvSpPr>
        <p:spPr>
          <a:xfrm>
            <a:off x="6240080" y="1900000"/>
            <a:ext cx="50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W4</a:t>
            </a:r>
          </a:p>
        </p:txBody>
      </p:sp>
      <p:sp>
        <p:nvSpPr>
          <p:cNvPr id="111" name="Hdr week 111"/>
          <p:cNvSpPr txBox="1"/>
          <p:nvPr/>
        </p:nvSpPr>
        <p:spPr>
          <a:xfrm>
            <a:off x="6740080" y="1900000"/>
            <a:ext cx="50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W5</a:t>
            </a:r>
          </a:p>
        </p:txBody>
      </p:sp>
      <p:sp>
        <p:nvSpPr>
          <p:cNvPr id="112" name="Hdr week 112"/>
          <p:cNvSpPr txBox="1"/>
          <p:nvPr/>
        </p:nvSpPr>
        <p:spPr>
          <a:xfrm>
            <a:off x="7240080" y="1900000"/>
            <a:ext cx="50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W6</a:t>
            </a:r>
          </a:p>
        </p:txBody>
      </p:sp>
      <p:sp>
        <p:nvSpPr>
          <p:cNvPr id="113" name="Hdr week 113"/>
          <p:cNvSpPr txBox="1"/>
          <p:nvPr/>
        </p:nvSpPr>
        <p:spPr>
          <a:xfrm>
            <a:off x="7740080" y="1900000"/>
            <a:ext cx="50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W7</a:t>
            </a:r>
          </a:p>
        </p:txBody>
      </p:sp>
      <p:sp>
        <p:nvSpPr>
          <p:cNvPr id="114" name="Hdr week 114"/>
          <p:cNvSpPr txBox="1"/>
          <p:nvPr/>
        </p:nvSpPr>
        <p:spPr>
          <a:xfrm>
            <a:off x="8240080" y="1900000"/>
            <a:ext cx="50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W8</a:t>
            </a:r>
          </a:p>
        </p:txBody>
      </p:sp>
      <p:sp>
        <p:nvSpPr>
          <p:cNvPr id="115" name="Hdr week 115"/>
          <p:cNvSpPr txBox="1"/>
          <p:nvPr/>
        </p:nvSpPr>
        <p:spPr>
          <a:xfrm>
            <a:off x="8740080" y="1900000"/>
            <a:ext cx="500000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W9</a:t>
            </a:r>
          </a:p>
        </p:txBody>
      </p:sp>
      <p:sp>
        <p:nvSpPr>
          <p:cNvPr id="116" name="Hdr status 116"/>
          <p:cNvSpPr txBox="1"/>
          <p:nvPr/>
        </p:nvSpPr>
        <p:spPr>
          <a:xfrm>
            <a:off x="9240080" y="1900000"/>
            <a:ext cx="2281359" cy="3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Status</a:t>
            </a:r>
          </a:p>
        </p:txBody>
      </p:sp>
      <p:sp>
        <p:nvSpPr>
          <p:cNvPr id="401" name="Row 401"/>
          <p:cNvSpPr/>
          <p:nvPr/>
        </p:nvSpPr>
        <p:spPr>
          <a:xfrm>
            <a:off x="640080" y="2240000"/>
            <a:ext cx="10881359" cy="325000"/>
          </a:xfrm>
          <a:prstGeom prst="rect">
            <a:avLst/>
          </a:prstGeom>
          <a:solidFill>
            <a:srgbClr val="F3F5FB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02" name="Row 402"/>
          <p:cNvSpPr/>
          <p:nvPr/>
        </p:nvSpPr>
        <p:spPr>
          <a:xfrm>
            <a:off x="640080" y="2565000"/>
            <a:ext cx="10881359" cy="32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03" name="Row 403"/>
          <p:cNvSpPr/>
          <p:nvPr/>
        </p:nvSpPr>
        <p:spPr>
          <a:xfrm>
            <a:off x="640080" y="2890000"/>
            <a:ext cx="10881359" cy="325000"/>
          </a:xfrm>
          <a:prstGeom prst="rect">
            <a:avLst/>
          </a:prstGeom>
          <a:solidFill>
            <a:srgbClr val="F3F5FB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04" name="Row 404"/>
          <p:cNvSpPr/>
          <p:nvPr/>
        </p:nvSpPr>
        <p:spPr>
          <a:xfrm>
            <a:off x="640080" y="3215000"/>
            <a:ext cx="10881359" cy="32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05" name="Row 405"/>
          <p:cNvSpPr/>
          <p:nvPr/>
        </p:nvSpPr>
        <p:spPr>
          <a:xfrm>
            <a:off x="640080" y="3540000"/>
            <a:ext cx="10881359" cy="325000"/>
          </a:xfrm>
          <a:prstGeom prst="rect">
            <a:avLst/>
          </a:prstGeom>
          <a:solidFill>
            <a:srgbClr val="F3F5FB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06" name="Row 406"/>
          <p:cNvSpPr/>
          <p:nvPr/>
        </p:nvSpPr>
        <p:spPr>
          <a:xfrm>
            <a:off x="640080" y="3865000"/>
            <a:ext cx="10881359" cy="32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07" name="Row 407"/>
          <p:cNvSpPr/>
          <p:nvPr/>
        </p:nvSpPr>
        <p:spPr>
          <a:xfrm>
            <a:off x="640080" y="4190000"/>
            <a:ext cx="10881359" cy="325000"/>
          </a:xfrm>
          <a:prstGeom prst="rect">
            <a:avLst/>
          </a:prstGeom>
          <a:solidFill>
            <a:srgbClr val="F3F5FB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08" name="Row 408"/>
          <p:cNvSpPr/>
          <p:nvPr/>
        </p:nvSpPr>
        <p:spPr>
          <a:xfrm>
            <a:off x="640080" y="4515000"/>
            <a:ext cx="10881359" cy="32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09" name="Row 409"/>
          <p:cNvSpPr/>
          <p:nvPr/>
        </p:nvSpPr>
        <p:spPr>
          <a:xfrm>
            <a:off x="640080" y="4840000"/>
            <a:ext cx="10881359" cy="325000"/>
          </a:xfrm>
          <a:prstGeom prst="rect">
            <a:avLst/>
          </a:prstGeom>
          <a:solidFill>
            <a:srgbClr val="F3F5FB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10" name="Row 410"/>
          <p:cNvSpPr/>
          <p:nvPr/>
        </p:nvSpPr>
        <p:spPr>
          <a:xfrm>
            <a:off x="640080" y="5165000"/>
            <a:ext cx="10881359" cy="32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cxnSp>
        <p:nvCxnSpPr>
          <p:cNvPr id="411" name="Grid 411"/>
          <p:cNvCxnSpPr/>
          <p:nvPr/>
        </p:nvCxnSpPr>
        <p:spPr>
          <a:xfrm>
            <a:off x="47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cxnSp>
        <p:nvCxnSpPr>
          <p:cNvPr id="412" name="Grid 412"/>
          <p:cNvCxnSpPr/>
          <p:nvPr/>
        </p:nvCxnSpPr>
        <p:spPr>
          <a:xfrm>
            <a:off x="52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cxnSp>
        <p:nvCxnSpPr>
          <p:cNvPr id="413" name="Grid 413"/>
          <p:cNvCxnSpPr/>
          <p:nvPr/>
        </p:nvCxnSpPr>
        <p:spPr>
          <a:xfrm>
            <a:off x="57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cxnSp>
        <p:nvCxnSpPr>
          <p:cNvPr id="414" name="Grid 414"/>
          <p:cNvCxnSpPr/>
          <p:nvPr/>
        </p:nvCxnSpPr>
        <p:spPr>
          <a:xfrm>
            <a:off x="62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cxnSp>
        <p:nvCxnSpPr>
          <p:cNvPr id="415" name="Grid 415"/>
          <p:cNvCxnSpPr/>
          <p:nvPr/>
        </p:nvCxnSpPr>
        <p:spPr>
          <a:xfrm>
            <a:off x="67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cxnSp>
        <p:nvCxnSpPr>
          <p:cNvPr id="416" name="Grid 416"/>
          <p:cNvCxnSpPr/>
          <p:nvPr/>
        </p:nvCxnSpPr>
        <p:spPr>
          <a:xfrm>
            <a:off x="72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cxnSp>
        <p:nvCxnSpPr>
          <p:cNvPr id="417" name="Grid 417"/>
          <p:cNvCxnSpPr/>
          <p:nvPr/>
        </p:nvCxnSpPr>
        <p:spPr>
          <a:xfrm>
            <a:off x="77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cxnSp>
        <p:nvCxnSpPr>
          <p:cNvPr id="418" name="Grid 418"/>
          <p:cNvCxnSpPr/>
          <p:nvPr/>
        </p:nvCxnSpPr>
        <p:spPr>
          <a:xfrm>
            <a:off x="82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cxnSp>
        <p:nvCxnSpPr>
          <p:cNvPr id="419" name="Grid 419"/>
          <p:cNvCxnSpPr/>
          <p:nvPr/>
        </p:nvCxnSpPr>
        <p:spPr>
          <a:xfrm>
            <a:off x="87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cxnSp>
        <p:nvCxnSpPr>
          <p:cNvPr id="420" name="Grid 420"/>
          <p:cNvCxnSpPr/>
          <p:nvPr/>
        </p:nvCxnSpPr>
        <p:spPr>
          <a:xfrm>
            <a:off x="9240080" y="2240000"/>
            <a:ext cx="0" cy="3250000"/>
          </a:xfrm>
          <a:prstGeom prst="line">
            <a:avLst/>
          </a:prstGeom>
          <a:ln w="6350">
            <a:solidFill>
              <a:srgbClr val="D3D9E8"/>
            </a:solidFill>
          </a:ln>
        </p:spPr>
      </p:cxnSp>
      <p:sp>
        <p:nvSpPr>
          <p:cNvPr id="421" name="Checkbox 421"/>
          <p:cNvSpPr/>
          <p:nvPr/>
        </p:nvSpPr>
        <p:spPr>
          <a:xfrm>
            <a:off x="775080" y="2302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22" name="Tick 422"/>
          <p:cNvSpPr/>
          <p:nvPr/>
        </p:nvSpPr>
        <p:spPr>
          <a:xfrm>
            <a:off x="775080" y="2302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3" name="Phase 423"/>
          <p:cNvSpPr txBox="1"/>
          <p:nvPr/>
        </p:nvSpPr>
        <p:spPr>
          <a:xfrm>
            <a:off x="1090080" y="2240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Dataset Preparation</a:t>
            </a:r>
          </a:p>
        </p:txBody>
      </p:sp>
      <p:sp>
        <p:nvSpPr>
          <p:cNvPr id="424" name="Bar done 424"/>
          <p:cNvSpPr/>
          <p:nvPr/>
        </p:nvSpPr>
        <p:spPr>
          <a:xfrm>
            <a:off x="4775080" y="2302500"/>
            <a:ext cx="9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425" name="Status pill 425"/>
          <p:cNvSpPr/>
          <p:nvPr/>
        </p:nvSpPr>
        <p:spPr>
          <a:xfrm>
            <a:off x="9410080" y="2297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426" name="Checkbox 426"/>
          <p:cNvSpPr/>
          <p:nvPr/>
        </p:nvSpPr>
        <p:spPr>
          <a:xfrm>
            <a:off x="775080" y="2627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27" name="Tick 427"/>
          <p:cNvSpPr/>
          <p:nvPr/>
        </p:nvSpPr>
        <p:spPr>
          <a:xfrm>
            <a:off x="775080" y="2627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8" name="Phase 428"/>
          <p:cNvSpPr txBox="1"/>
          <p:nvPr/>
        </p:nvSpPr>
        <p:spPr>
          <a:xfrm>
            <a:off x="1090080" y="2565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Model Training (Random Forest Regressor)</a:t>
            </a:r>
          </a:p>
        </p:txBody>
      </p:sp>
      <p:sp>
        <p:nvSpPr>
          <p:cNvPr id="429" name="Bar done 429"/>
          <p:cNvSpPr/>
          <p:nvPr/>
        </p:nvSpPr>
        <p:spPr>
          <a:xfrm>
            <a:off x="5775080" y="2627500"/>
            <a:ext cx="9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430" name="Status pill 430"/>
          <p:cNvSpPr/>
          <p:nvPr/>
        </p:nvSpPr>
        <p:spPr>
          <a:xfrm>
            <a:off x="9410080" y="2622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431" name="Checkbox 431"/>
          <p:cNvSpPr/>
          <p:nvPr/>
        </p:nvSpPr>
        <p:spPr>
          <a:xfrm>
            <a:off x="775080" y="2952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32" name="Tick 432"/>
          <p:cNvSpPr/>
          <p:nvPr/>
        </p:nvSpPr>
        <p:spPr>
          <a:xfrm>
            <a:off x="775080" y="2952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3" name="Phase 433"/>
          <p:cNvSpPr txBox="1"/>
          <p:nvPr/>
        </p:nvSpPr>
        <p:spPr>
          <a:xfrm>
            <a:off x="1090080" y="2890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Frontend–Backend Integration</a:t>
            </a:r>
          </a:p>
        </p:txBody>
      </p:sp>
      <p:sp>
        <p:nvSpPr>
          <p:cNvPr id="434" name="Bar done 434"/>
          <p:cNvSpPr/>
          <p:nvPr/>
        </p:nvSpPr>
        <p:spPr>
          <a:xfrm>
            <a:off x="6275080" y="2952500"/>
            <a:ext cx="9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435" name="Status pill 435"/>
          <p:cNvSpPr/>
          <p:nvPr/>
        </p:nvSpPr>
        <p:spPr>
          <a:xfrm>
            <a:off x="9410080" y="2947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436" name="Checkbox 436"/>
          <p:cNvSpPr/>
          <p:nvPr/>
        </p:nvSpPr>
        <p:spPr>
          <a:xfrm>
            <a:off x="775080" y="3277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37" name="Tick 437"/>
          <p:cNvSpPr/>
          <p:nvPr/>
        </p:nvSpPr>
        <p:spPr>
          <a:xfrm>
            <a:off x="775080" y="3277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8" name="Phase 438"/>
          <p:cNvSpPr txBox="1"/>
          <p:nvPr/>
        </p:nvSpPr>
        <p:spPr>
          <a:xfrm>
            <a:off x="1090080" y="3215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Price Prediction</a:t>
            </a:r>
          </a:p>
        </p:txBody>
      </p:sp>
      <p:sp>
        <p:nvSpPr>
          <p:cNvPr id="439" name="Bar done 439"/>
          <p:cNvSpPr/>
          <p:nvPr/>
        </p:nvSpPr>
        <p:spPr>
          <a:xfrm>
            <a:off x="6775080" y="3277500"/>
            <a:ext cx="4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440" name="Status pill 440"/>
          <p:cNvSpPr/>
          <p:nvPr/>
        </p:nvSpPr>
        <p:spPr>
          <a:xfrm>
            <a:off x="9410080" y="3272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441" name="Checkbox 441"/>
          <p:cNvSpPr/>
          <p:nvPr/>
        </p:nvSpPr>
        <p:spPr>
          <a:xfrm>
            <a:off x="775080" y="3602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42" name="Tick 442"/>
          <p:cNvSpPr/>
          <p:nvPr/>
        </p:nvSpPr>
        <p:spPr>
          <a:xfrm>
            <a:off x="775080" y="3602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3" name="Phase 443"/>
          <p:cNvSpPr txBox="1"/>
          <p:nvPr/>
        </p:nvSpPr>
        <p:spPr>
          <a:xfrm>
            <a:off x="1090080" y="3540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Testing</a:t>
            </a:r>
          </a:p>
        </p:txBody>
      </p:sp>
      <p:sp>
        <p:nvSpPr>
          <p:cNvPr id="444" name="Bar done 444"/>
          <p:cNvSpPr/>
          <p:nvPr/>
        </p:nvSpPr>
        <p:spPr>
          <a:xfrm>
            <a:off x="6775080" y="3602500"/>
            <a:ext cx="9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445" name="Status pill 445"/>
          <p:cNvSpPr/>
          <p:nvPr/>
        </p:nvSpPr>
        <p:spPr>
          <a:xfrm>
            <a:off x="9410080" y="3597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446" name="Checkbox 446"/>
          <p:cNvSpPr/>
          <p:nvPr/>
        </p:nvSpPr>
        <p:spPr>
          <a:xfrm>
            <a:off x="775080" y="3927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47" name="Tick 447"/>
          <p:cNvSpPr/>
          <p:nvPr/>
        </p:nvSpPr>
        <p:spPr>
          <a:xfrm>
            <a:off x="775080" y="3927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8" name="Phase 448"/>
          <p:cNvSpPr txBox="1"/>
          <p:nvPr/>
        </p:nvSpPr>
        <p:spPr>
          <a:xfrm>
            <a:off x="1090080" y="3865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UI Improvement</a:t>
            </a:r>
          </a:p>
        </p:txBody>
      </p:sp>
      <p:sp>
        <p:nvSpPr>
          <p:cNvPr id="449" name="Bar done 449"/>
          <p:cNvSpPr/>
          <p:nvPr/>
        </p:nvSpPr>
        <p:spPr>
          <a:xfrm>
            <a:off x="7275080" y="3927500"/>
            <a:ext cx="4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450" name="Status pill 450"/>
          <p:cNvSpPr/>
          <p:nvPr/>
        </p:nvSpPr>
        <p:spPr>
          <a:xfrm>
            <a:off x="9410080" y="3922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1000" name="Checkbox 1000"/>
          <p:cNvSpPr/>
          <p:nvPr/>
        </p:nvSpPr>
        <p:spPr>
          <a:xfrm>
            <a:off x="775080" y="4252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001" name="Tick 1001"/>
          <p:cNvSpPr/>
          <p:nvPr/>
        </p:nvSpPr>
        <p:spPr>
          <a:xfrm>
            <a:off x="775080" y="4252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2" name="Phase 452"/>
          <p:cNvSpPr txBox="1"/>
          <p:nvPr/>
        </p:nvSpPr>
        <p:spPr>
          <a:xfrm>
            <a:off x="1090080" y="4190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Model Evaluation &amp; Accuracy Testing</a:t>
            </a:r>
          </a:p>
        </p:txBody>
      </p:sp>
      <p:sp>
        <p:nvSpPr>
          <p:cNvPr id="1002" name="Bar done 1002"/>
          <p:cNvSpPr/>
          <p:nvPr/>
        </p:nvSpPr>
        <p:spPr>
          <a:xfrm>
            <a:off x="7775080" y="4252500"/>
            <a:ext cx="9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1003" name="Status pill 1003"/>
          <p:cNvSpPr/>
          <p:nvPr/>
        </p:nvSpPr>
        <p:spPr>
          <a:xfrm>
            <a:off x="9410080" y="4247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1004" name="Checkbox 1004"/>
          <p:cNvSpPr/>
          <p:nvPr/>
        </p:nvSpPr>
        <p:spPr>
          <a:xfrm>
            <a:off x="775080" y="4577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005" name="Tick 1005"/>
          <p:cNvSpPr/>
          <p:nvPr/>
        </p:nvSpPr>
        <p:spPr>
          <a:xfrm>
            <a:off x="775080" y="4577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6" name="Phase 456"/>
          <p:cNvSpPr txBox="1"/>
          <p:nvPr/>
        </p:nvSpPr>
        <p:spPr>
          <a:xfrm>
            <a:off x="1090080" y="4515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Integration &amp; Error Handling</a:t>
            </a:r>
          </a:p>
        </p:txBody>
      </p:sp>
      <p:sp>
        <p:nvSpPr>
          <p:cNvPr id="1006" name="Bar done 1006"/>
          <p:cNvSpPr/>
          <p:nvPr/>
        </p:nvSpPr>
        <p:spPr>
          <a:xfrm>
            <a:off x="8275080" y="4577500"/>
            <a:ext cx="4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1007" name="Status pill 1007"/>
          <p:cNvSpPr/>
          <p:nvPr/>
        </p:nvSpPr>
        <p:spPr>
          <a:xfrm>
            <a:off x="9410080" y="4572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1008" name="Checkbox 1008"/>
          <p:cNvSpPr/>
          <p:nvPr/>
        </p:nvSpPr>
        <p:spPr>
          <a:xfrm>
            <a:off x="775080" y="4902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009" name="Tick 1009"/>
          <p:cNvSpPr/>
          <p:nvPr/>
        </p:nvSpPr>
        <p:spPr>
          <a:xfrm>
            <a:off x="775080" y="4902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0" name="Phase 460"/>
          <p:cNvSpPr txBox="1"/>
          <p:nvPr/>
        </p:nvSpPr>
        <p:spPr>
          <a:xfrm>
            <a:off x="1090080" y="4840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Final UI Improvements</a:t>
            </a:r>
          </a:p>
        </p:txBody>
      </p:sp>
      <p:sp>
        <p:nvSpPr>
          <p:cNvPr id="1010" name="Bar done 1010"/>
          <p:cNvSpPr/>
          <p:nvPr/>
        </p:nvSpPr>
        <p:spPr>
          <a:xfrm>
            <a:off x="8275080" y="4902500"/>
            <a:ext cx="9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1011" name="Status pill 1011"/>
          <p:cNvSpPr/>
          <p:nvPr/>
        </p:nvSpPr>
        <p:spPr>
          <a:xfrm>
            <a:off x="9410080" y="4897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1012" name="Checkbox 1012"/>
          <p:cNvSpPr/>
          <p:nvPr/>
        </p:nvSpPr>
        <p:spPr>
          <a:xfrm>
            <a:off x="775080" y="52275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013" name="Tick 1013"/>
          <p:cNvSpPr/>
          <p:nvPr/>
        </p:nvSpPr>
        <p:spPr>
          <a:xfrm>
            <a:off x="775080" y="52275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4" name="Phase 464"/>
          <p:cNvSpPr txBox="1"/>
          <p:nvPr/>
        </p:nvSpPr>
        <p:spPr>
          <a:xfrm>
            <a:off x="1090080" y="5165000"/>
            <a:ext cx="3620000" cy="32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1E2761"/>
                </a:solidFill>
                <a:latin typeface="Times New Roman"/>
                <a:cs typeface="Times New Roman"/>
              </a:rPr>
              <a:t>Documentation &amp; Final Presentation</a:t>
            </a:r>
          </a:p>
        </p:txBody>
      </p:sp>
      <p:sp>
        <p:nvSpPr>
          <p:cNvPr id="1014" name="Bar done 1014"/>
          <p:cNvSpPr/>
          <p:nvPr/>
        </p:nvSpPr>
        <p:spPr>
          <a:xfrm>
            <a:off x="8775080" y="5227500"/>
            <a:ext cx="430000" cy="20000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1015" name="Status pill 1015"/>
          <p:cNvSpPr/>
          <p:nvPr/>
        </p:nvSpPr>
        <p:spPr>
          <a:xfrm>
            <a:off x="9410080" y="5222500"/>
            <a:ext cx="1941359" cy="21000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1E7A45"/>
                </a:solidFill>
                <a:latin typeface="Times New Roman"/>
                <a:cs typeface="Times New Roman"/>
              </a:rPr>
              <a:t>Completed</a:t>
            </a:r>
          </a:p>
        </p:txBody>
      </p:sp>
      <p:cxnSp>
        <p:nvCxnSpPr>
          <p:cNvPr id="467" name="Today line 467"/>
          <p:cNvCxnSpPr/>
          <p:nvPr/>
        </p:nvCxnSpPr>
        <p:spPr>
          <a:xfrm>
            <a:off x="9240080" y="2240000"/>
            <a:ext cx="0" cy="3300000"/>
          </a:xfrm>
          <a:prstGeom prst="line">
            <a:avLst/>
          </a:prstGeom>
          <a:ln w="22225">
            <a:solidFill>
              <a:srgbClr val="D64545"/>
            </a:solidFill>
            <a:prstDash val="dash"/>
          </a:ln>
        </p:spPr>
      </p:cxnSp>
      <p:sp>
        <p:nvSpPr>
          <p:cNvPr id="468" name="Today tag 468"/>
          <p:cNvSpPr/>
          <p:nvPr/>
        </p:nvSpPr>
        <p:spPr>
          <a:xfrm>
            <a:off x="8690080" y="5540000"/>
            <a:ext cx="1100000" cy="23000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Submission</a:t>
            </a:r>
          </a:p>
        </p:txBody>
      </p:sp>
      <p:sp>
        <p:nvSpPr>
          <p:cNvPr id="170" name="Checkbox 170"/>
          <p:cNvSpPr/>
          <p:nvPr/>
        </p:nvSpPr>
        <p:spPr>
          <a:xfrm>
            <a:off x="640080" y="5620000"/>
            <a:ext cx="200000" cy="2000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71" name="Tick 171"/>
          <p:cNvSpPr/>
          <p:nvPr/>
        </p:nvSpPr>
        <p:spPr>
          <a:xfrm>
            <a:off x="640080" y="5620000"/>
            <a:ext cx="200000" cy="200000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0" y="53"/>
                </a:moveTo>
                <a:lnTo>
                  <a:pt x="42" y="75"/>
                </a:lnTo>
                <a:lnTo>
                  <a:pt x="80" y="27"/>
                </a:lnTo>
              </a:path>
            </a:pathLst>
          </a:custGeom>
          <a:noFill/>
          <a:ln w="31750" cap="rnd">
            <a:solidFill>
              <a:srgbClr val="FFFFFF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2" name="Legend 172"/>
          <p:cNvSpPr txBox="1"/>
          <p:nvPr/>
        </p:nvSpPr>
        <p:spPr>
          <a:xfrm>
            <a:off x="900080" y="5600000"/>
            <a:ext cx="12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100" b="0" i="0" dirty="0">
                <a:solidFill>
                  <a:srgbClr val="1A1A1A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DF855-5E8A-3E80-C459-861A7576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587914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7A2627D-A0BC-5083-A485-59D5040555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587914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4013760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Results and Outcome Achieved</a:t>
            </a: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642482" y="6594813"/>
            <a:ext cx="10711318" cy="237634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358283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pic>
        <p:nvPicPr>
          <p:cNvPr id="11" name="Picture 10" descr="Appraise prediction resu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16000"/>
            <a:ext cx="4004683" cy="232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150000"/>
            <a:ext cx="38101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1A1A1A"/>
                </a:solidFill>
                <a:latin typeface="Times New Roman"/>
              </a:rPr>
              <a:t>Final Appraise UI: property details go in, an instant valuation in Indian Rupees comes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15963" y="1965960"/>
            <a:ext cx="6827092" cy="82296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tIns="40000" bIns="40000" rtlCol="0" anchor="ctr"/>
          <a:lstStyle/>
          <a:p>
            <a:pPr algn="ctr"/>
            <a:r>
              <a:rPr sz="2600" b="1">
                <a:solidFill>
                  <a:srgbClr val="1E2761"/>
                </a:solidFill>
                <a:latin typeface="Times New Roman"/>
              </a:rPr>
              <a:t>R² = 0.949</a:t>
            </a:r>
          </a:p>
          <a:p>
            <a:r>
              <a:rPr sz="1200">
                <a:solidFill>
                  <a:srgbClr val="1A1A1A"/>
                </a:solidFill>
                <a:latin typeface="Times New Roman"/>
              </a:rPr>
              <a:t>model fit on held-out test data (achieved)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15963" y="2971800"/>
            <a:ext cx="6827092" cy="82296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tIns="40000" bIns="40000" rtlCol="0" anchor="ctr"/>
          <a:lstStyle/>
          <a:p>
            <a:pPr algn="ctr"/>
            <a:r>
              <a:rPr sz="2600" b="1">
                <a:solidFill>
                  <a:srgbClr val="1E2761"/>
                </a:solidFill>
                <a:latin typeface="Times New Roman"/>
              </a:rPr>
              <a:t>Rs. 3.55 lakh</a:t>
            </a:r>
          </a:p>
          <a:p>
            <a:r>
              <a:rPr sz="1200">
                <a:solidFill>
                  <a:srgbClr val="1A1A1A"/>
                </a:solidFill>
                <a:latin typeface="Times New Roman"/>
              </a:rPr>
              <a:t>mean absolute error on the test 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5963" y="3977640"/>
            <a:ext cx="6827092" cy="82296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tIns="40000" bIns="40000" rtlCol="0" anchor="ctr"/>
          <a:lstStyle/>
          <a:p>
            <a:pPr algn="ctr"/>
            <a:r>
              <a:rPr sz="2600" b="1">
                <a:solidFill>
                  <a:srgbClr val="1E2761"/>
                </a:solidFill>
                <a:latin typeface="Times New Roman"/>
              </a:rPr>
              <a:t>12</a:t>
            </a:r>
          </a:p>
          <a:p>
            <a:r>
              <a:rPr sz="1200">
                <a:solidFill>
                  <a:srgbClr val="1A1A1A"/>
                </a:solidFill>
                <a:latin typeface="Times New Roman"/>
              </a:rPr>
              <a:t>property features considered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15963" y="4983480"/>
            <a:ext cx="6827092" cy="82296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tIns="40000" bIns="40000" rtlCol="0" anchor="ctr"/>
          <a:lstStyle/>
          <a:p>
            <a:pPr algn="ctr"/>
            <a:r>
              <a:rPr sz="2600" b="1">
                <a:solidFill>
                  <a:srgbClr val="1E2761"/>
                </a:solidFill>
                <a:latin typeface="Times New Roman"/>
              </a:rPr>
              <a:t>&lt; 1 sec</a:t>
            </a:r>
          </a:p>
          <a:p>
            <a:r>
              <a:rPr sz="1200">
                <a:solidFill>
                  <a:srgbClr val="1A1A1A"/>
                </a:solidFill>
                <a:latin typeface="Times New Roman"/>
              </a:rPr>
              <a:t>response time (verified end-to-end)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8962BAC-CA70-645B-8D2C-C609F9F7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5036"/>
            <a:ext cx="2743200" cy="803130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1778178-C2EA-D0B6-3899-5A650543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74178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8CBF610-538A-A3D3-615D-2DA7F3A6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4500"/>
            <a:ext cx="2465717" cy="453885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218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spcAft>
                <a:spcPts val="1000"/>
              </a:spcAft>
            </a:pPr>
            <a:r>
              <a:rPr sz="1900" b="1" dirty="0">
                <a:solidFill>
                  <a:srgbClr val="1A1A1A"/>
                </a:solidFill>
                <a:latin typeface="Times New Roman"/>
              </a:rPr>
              <a:t>Conclusion</a:t>
            </a:r>
            <a:endParaRPr lang="en-IN" dirty="0"/>
          </a:p>
          <a:p>
            <a:pPr lvl="1">
              <a:spcAft>
                <a:spcPts val="1000"/>
              </a:spcAft>
            </a:pPr>
            <a:r>
              <a:rPr sz="1700" b="0" dirty="0">
                <a:solidFill>
                  <a:srgbClr val="1A1A1A"/>
                </a:solidFill>
                <a:latin typeface="Times New Roman"/>
              </a:rPr>
              <a:t>Project is 100% complete: dataset, Random Forest pipeline, Flask REST API and the Appraise web UI are built, integrated and tested end-to-end</a:t>
            </a:r>
          </a:p>
          <a:p>
            <a:pPr lvl="1">
              <a:spcAft>
                <a:spcPts val="1000"/>
              </a:spcAft>
            </a:pPr>
            <a:r>
              <a:rPr sz="1700" b="0" dirty="0">
                <a:solidFill>
                  <a:srgbClr val="1A1A1A"/>
                </a:solidFill>
                <a:latin typeface="Times New Roman"/>
              </a:rPr>
              <a:t>The trained model achieves R² = 0.949 and MAE ≈ Rs. 3.55 lakh on the held-out test set — above the target of R² ≥ 0.90</a:t>
            </a:r>
          </a:p>
          <a:p>
            <a:pPr lvl="1">
              <a:spcAft>
                <a:spcPts val="1000"/>
              </a:spcAft>
            </a:pPr>
            <a:r>
              <a:rPr sz="1700" b="0" dirty="0">
                <a:solidFill>
                  <a:srgbClr val="1A1A1A"/>
                </a:solidFill>
                <a:latin typeface="Times New Roman"/>
              </a:rPr>
              <a:t>Predictions return in under a second, with input validation and clear error handling on both tiers; report and demonstration are ready</a:t>
            </a:r>
          </a:p>
          <a:p>
            <a:pPr>
              <a:spcAft>
                <a:spcPts val="1000"/>
              </a:spcAft>
            </a:pPr>
            <a:r>
              <a:rPr sz="1900" b="1" dirty="0">
                <a:solidFill>
                  <a:srgbClr val="1A1A1A"/>
                </a:solidFill>
                <a:latin typeface="Times New Roman"/>
              </a:rPr>
              <a:t>Future Scope</a:t>
            </a:r>
          </a:p>
          <a:p>
            <a:pPr lvl="1">
              <a:spcAft>
                <a:spcPts val="1000"/>
              </a:spcAft>
            </a:pPr>
            <a:r>
              <a:rPr sz="1700" b="0" dirty="0">
                <a:solidFill>
                  <a:srgbClr val="1A1A1A"/>
                </a:solidFill>
                <a:latin typeface="Times New Roman"/>
              </a:rPr>
              <a:t>Replace the synthetic dataset with real, region-specific listing data for production-grade accuracy</a:t>
            </a:r>
          </a:p>
          <a:p>
            <a:pPr lvl="1">
              <a:spcAft>
                <a:spcPts val="1000"/>
              </a:spcAft>
            </a:pPr>
            <a:r>
              <a:rPr sz="1700" b="0" dirty="0">
                <a:solidFill>
                  <a:srgbClr val="1A1A1A"/>
                </a:solidFill>
                <a:latin typeface="Times New Roman"/>
              </a:rPr>
              <a:t>Add explainability (e.g., SHAP values) and compare boosting models (XGBoost, LightGBM, CatBoost)</a:t>
            </a:r>
          </a:p>
          <a:p>
            <a:pPr lvl="1">
              <a:spcAft>
                <a:spcPts val="1000"/>
              </a:spcAft>
            </a:pPr>
            <a:r>
              <a:rPr sz="1700" b="0" dirty="0">
                <a:solidFill>
                  <a:srgbClr val="1A1A1A"/>
                </a:solidFill>
                <a:latin typeface="Times New Roman"/>
              </a:rPr>
              <a:t>Extend the model with location/geospatial features and time-based market trends</a:t>
            </a:r>
          </a:p>
          <a:p>
            <a:pPr lvl="1">
              <a:spcAft>
                <a:spcPts val="1000"/>
              </a:spcAft>
            </a:pPr>
            <a:r>
              <a:rPr sz="1700" b="0" dirty="0">
                <a:solidFill>
                  <a:srgbClr val="1A1A1A"/>
                </a:solidFill>
                <a:latin typeface="Times New Roman"/>
              </a:rPr>
              <a:t>Deploy to the cloud (WSGI server, Docker) with authentication and a history of past valuations</a:t>
            </a:r>
          </a:p>
        </p:txBody>
      </p:sp>
      <p:sp>
        <p:nvSpPr>
          <p:cNvPr id="11" name="Parallelogram 6">
            <a:extLst>
              <a:ext uri="{FF2B5EF4-FFF2-40B4-BE49-F238E27FC236}">
                <a16:creationId xmlns:a16="http://schemas.microsoft.com/office/drawing/2014/main" id="{DA2AD3CA-CEC8-E4F5-2064-2F057D8011C4}"/>
              </a:ext>
            </a:extLst>
          </p:cNvPr>
          <p:cNvSpPr/>
          <p:nvPr/>
        </p:nvSpPr>
        <p:spPr>
          <a:xfrm flipV="1">
            <a:off x="1132060" y="27331"/>
            <a:ext cx="10711318" cy="218387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6346E5-EA4D-3770-3C5F-58F4F230D642}"/>
              </a:ext>
            </a:extLst>
          </p:cNvPr>
          <p:cNvGrpSpPr/>
          <p:nvPr/>
        </p:nvGrpSpPr>
        <p:grpSpPr>
          <a:xfrm>
            <a:off x="1" y="27331"/>
            <a:ext cx="1630392" cy="1500326"/>
            <a:chOff x="5449281" y="2761932"/>
            <a:chExt cx="1289974" cy="1334135"/>
          </a:xfrm>
        </p:grpSpPr>
        <p:sp>
          <p:nvSpPr>
            <p:cNvPr id="13" name="Shape 454">
              <a:extLst>
                <a:ext uri="{FF2B5EF4-FFF2-40B4-BE49-F238E27FC236}">
                  <a16:creationId xmlns:a16="http://schemas.microsoft.com/office/drawing/2014/main" id="{8F97760B-80DF-4628-8F61-FDC8F768D6F4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F9816F7-2DA6-4332-B570-95673EF9FBB6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8" name="Parallelogram 6">
            <a:extLst>
              <a:ext uri="{FF2B5EF4-FFF2-40B4-BE49-F238E27FC236}">
                <a16:creationId xmlns:a16="http://schemas.microsoft.com/office/drawing/2014/main" id="{CBA07E16-61CD-19BD-6ACC-F94B185A5661}"/>
              </a:ext>
            </a:extLst>
          </p:cNvPr>
          <p:cNvSpPr/>
          <p:nvPr/>
        </p:nvSpPr>
        <p:spPr>
          <a:xfrm>
            <a:off x="618040" y="6564769"/>
            <a:ext cx="10711318" cy="248714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AC38D37-A507-515E-5759-359A8942E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665552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7BF1735-7AF4-6A1A-2683-020CBA6E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65552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B6906BA-9366-90A1-2B8C-EA2B437C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448464" cy="665552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662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lang="en-US" sz="1400" b="0" dirty="0">
                <a:solidFill>
                  <a:srgbClr val="1A1A1A"/>
                </a:solidFill>
                <a:latin typeface="Times New Roman"/>
              </a:rPr>
              <a:t>[1] Jing, Y. (2025). Comparing Machine Learning Models for House Price Prediction: Linear Regression, Decision Tree, and Random Forest. ITM Web of Conferences, 80. </a:t>
            </a:r>
            <a:r>
              <a:rPr lang="en-US" sz="1400" b="0" u="sng" dirty="0">
                <a:latin typeface="Times New Roman"/>
                <a:hlinkClick r:id="rId11"/>
              </a:rPr>
              <a:t>https://doi.org/10.1051/itmconf/20258001031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1A1A1A"/>
                </a:solidFill>
                <a:latin typeface="Times New Roman"/>
              </a:rPr>
              <a:t>[2] Mahmoudi, Y. (2023). Machine Learning Approach for House Price Prediction. ResearchGate.</a:t>
            </a:r>
          </a:p>
          <a:p>
            <a:pPr>
              <a:spcAft>
                <a:spcPts val="1000"/>
              </a:spcAft>
            </a:pPr>
            <a:r>
              <a:rPr lang="en-US" sz="1400" b="0" dirty="0">
                <a:solidFill>
                  <a:srgbClr val="1A1A1A"/>
                </a:solidFill>
                <a:latin typeface="Times New Roman"/>
              </a:rPr>
              <a:t>[3] Billah, M. A. M. (2025). Comparative Analysis of Machine Learning Models for House Price Prediction: From Linear Regression to Boosted Trees. Research Square, DOI: </a:t>
            </a:r>
            <a:r>
              <a:rPr lang="en-US" sz="1400" b="0" u="sng" dirty="0">
                <a:latin typeface="Times New Roman"/>
                <a:hlinkClick r:id="rId13"/>
              </a:rPr>
              <a:t>10.21203/rs.3.rs-7840588/v1</a:t>
            </a:r>
            <a:r>
              <a:rPr lang="en-US" sz="1400" b="0" dirty="0">
                <a:solidFill>
                  <a:srgbClr val="1A1A1A"/>
                </a:solidFill>
                <a:latin typeface="Times New Roman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sz="1400" b="0" dirty="0">
                <a:solidFill>
                  <a:srgbClr val="1A1A1A"/>
                </a:solidFill>
                <a:latin typeface="Times New Roman"/>
              </a:rPr>
              <a:t>[4] Comparative Analysis of Machine Learning Models for House Price Prediction (2024). Atlantis Press. </a:t>
            </a:r>
            <a:r>
              <a:rPr lang="en-US" sz="1400" b="0" u="sng" dirty="0">
                <a:latin typeface="Times New Roman"/>
                <a:hlinkClick r:id="rId14"/>
              </a:rPr>
              <a:t>https://www.atlantis-press.com/proceedings/iciaai-25/126015268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1A1A1A"/>
                </a:solidFill>
                <a:latin typeface="Times New Roman"/>
              </a:rPr>
              <a:t>[5] Fu, Y. (2024). A Comparative Study of House Price Prediction Using Linear Regression and Random Forest Models. ResearchGate.</a:t>
            </a:r>
          </a:p>
          <a:p>
            <a:pPr>
              <a:spcAft>
                <a:spcPts val="1000"/>
              </a:spcAft>
            </a:pPr>
            <a:r>
              <a:rPr lang="en-US" sz="1400" b="0" dirty="0">
                <a:solidFill>
                  <a:srgbClr val="1A1A1A"/>
                </a:solidFill>
                <a:latin typeface="Times New Roman"/>
              </a:rPr>
              <a:t>[6] Pedregosa, F., et al. (2011). Scikit-learn: Machine Learning in Python. Journal of Machine Learning Research, 12, 2825–2830. </a:t>
            </a:r>
            <a:r>
              <a:rPr lang="en-US" sz="1400" b="0" u="sng" dirty="0">
                <a:latin typeface="Times New Roman"/>
                <a:hlinkClick r:id="rId16"/>
              </a:rPr>
              <a:t>https://jmlr.org/papers/v12/pedregosa11a.html</a:t>
            </a:r>
          </a:p>
          <a:p>
            <a:pPr>
              <a:spcAft>
                <a:spcPts val="1000"/>
              </a:spcAft>
            </a:pPr>
            <a:r>
              <a:rPr lang="en-US" sz="1400" b="0" dirty="0">
                <a:solidFill>
                  <a:srgbClr val="1A1A1A"/>
                </a:solidFill>
                <a:latin typeface="Times New Roman"/>
              </a:rPr>
              <a:t>[7] Flask Documentation. </a:t>
            </a:r>
            <a:r>
              <a:rPr lang="en-US" sz="1400" b="0" u="sng" dirty="0">
                <a:latin typeface="Times New Roman"/>
                <a:hlinkClick r:id="rId17"/>
              </a:rPr>
              <a:t>https://flask.palletsprojects.com/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1A1A1A"/>
                </a:solidFill>
                <a:latin typeface="Times New Roman"/>
              </a:rPr>
              <a:t>[8] Breiman, L. (2001). Random Forests. Machine Learning, 45(1), 5–32.</a:t>
            </a:r>
          </a:p>
        </p:txBody>
      </p:sp>
      <p:sp>
        <p:nvSpPr>
          <p:cNvPr id="11" name="Parallelogram 6">
            <a:extLst>
              <a:ext uri="{FF2B5EF4-FFF2-40B4-BE49-F238E27FC236}">
                <a16:creationId xmlns:a16="http://schemas.microsoft.com/office/drawing/2014/main" id="{9CC1A5C4-0DC3-62FA-1FFA-BCC0A97E19AD}"/>
              </a:ext>
            </a:extLst>
          </p:cNvPr>
          <p:cNvSpPr/>
          <p:nvPr/>
        </p:nvSpPr>
        <p:spPr>
          <a:xfrm flipV="1">
            <a:off x="976439" y="-12986"/>
            <a:ext cx="10711318" cy="218387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arallelogram 6">
            <a:extLst>
              <a:ext uri="{FF2B5EF4-FFF2-40B4-BE49-F238E27FC236}">
                <a16:creationId xmlns:a16="http://schemas.microsoft.com/office/drawing/2014/main" id="{2E3AC1C7-D869-91EB-67C2-F7E1A053AAEF}"/>
              </a:ext>
            </a:extLst>
          </p:cNvPr>
          <p:cNvSpPr/>
          <p:nvPr/>
        </p:nvSpPr>
        <p:spPr>
          <a:xfrm>
            <a:off x="642482" y="6626450"/>
            <a:ext cx="10711318" cy="231550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9315C2-32C2-087A-5D7A-462604F20DA6}"/>
              </a:ext>
            </a:extLst>
          </p:cNvPr>
          <p:cNvGrpSpPr/>
          <p:nvPr/>
        </p:nvGrpSpPr>
        <p:grpSpPr>
          <a:xfrm>
            <a:off x="39005" y="-12986"/>
            <a:ext cx="1402672" cy="1473693"/>
            <a:chOff x="5449281" y="2761932"/>
            <a:chExt cx="1289974" cy="1334135"/>
          </a:xfrm>
        </p:grpSpPr>
        <p:sp>
          <p:nvSpPr>
            <p:cNvPr id="15" name="Shape 454">
              <a:extLst>
                <a:ext uri="{FF2B5EF4-FFF2-40B4-BE49-F238E27FC236}">
                  <a16:creationId xmlns:a16="http://schemas.microsoft.com/office/drawing/2014/main" id="{AB33991C-2469-EC0F-C1C5-BD4224E692FC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95D0E4-7236-1F12-E559-F0F8E3F18F42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E4D01B11-E103-8AF6-07FD-87EA4781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734563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024F71E8-435B-ACD7-8ADE-3488909D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76963"/>
            <a:ext cx="4114800" cy="1034720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BC0786B-7870-0EEB-A69F-6CA5AA39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586487" cy="639673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173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72574185-5F6B-5835-2B93-C72DE96168A4}"/>
              </a:ext>
            </a:extLst>
          </p:cNvPr>
          <p:cNvSpPr/>
          <p:nvPr/>
        </p:nvSpPr>
        <p:spPr>
          <a:xfrm>
            <a:off x="701336" y="345088"/>
            <a:ext cx="10531876" cy="6141975"/>
          </a:xfrm>
          <a:custGeom>
            <a:avLst/>
            <a:gdLst/>
            <a:ahLst/>
            <a:cxnLst/>
            <a:rect l="l" t="t" r="r" b="b"/>
            <a:pathLst>
              <a:path w="14413719" h="10161189">
                <a:moveTo>
                  <a:pt x="0" y="0"/>
                </a:moveTo>
                <a:lnTo>
                  <a:pt x="14413720" y="0"/>
                </a:lnTo>
                <a:lnTo>
                  <a:pt x="14413720" y="10161189"/>
                </a:lnTo>
                <a:lnTo>
                  <a:pt x="0" y="10161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431" t="-79089" r="-17045" b="-8418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Parallelogram 6">
            <a:extLst>
              <a:ext uri="{FF2B5EF4-FFF2-40B4-BE49-F238E27FC236}">
                <a16:creationId xmlns:a16="http://schemas.microsoft.com/office/drawing/2014/main" id="{665EB78D-8D00-C13B-57DF-AEEE2E21F814}"/>
              </a:ext>
            </a:extLst>
          </p:cNvPr>
          <p:cNvSpPr/>
          <p:nvPr/>
        </p:nvSpPr>
        <p:spPr>
          <a:xfrm flipV="1">
            <a:off x="855669" y="16781"/>
            <a:ext cx="10711318" cy="218387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arallelogram 6">
            <a:extLst>
              <a:ext uri="{FF2B5EF4-FFF2-40B4-BE49-F238E27FC236}">
                <a16:creationId xmlns:a16="http://schemas.microsoft.com/office/drawing/2014/main" id="{4DFF5788-5120-932E-D6C5-ADC0AED98D74}"/>
              </a:ext>
            </a:extLst>
          </p:cNvPr>
          <p:cNvSpPr/>
          <p:nvPr/>
        </p:nvSpPr>
        <p:spPr>
          <a:xfrm>
            <a:off x="701336" y="6587915"/>
            <a:ext cx="10711318" cy="244236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BB4B89-9215-F9E9-A686-29068589F5BD}"/>
              </a:ext>
            </a:extLst>
          </p:cNvPr>
          <p:cNvGrpSpPr/>
          <p:nvPr/>
        </p:nvGrpSpPr>
        <p:grpSpPr>
          <a:xfrm>
            <a:off x="0" y="0"/>
            <a:ext cx="1402672" cy="1473693"/>
            <a:chOff x="5449281" y="2761932"/>
            <a:chExt cx="1289974" cy="1334135"/>
          </a:xfrm>
        </p:grpSpPr>
        <p:sp>
          <p:nvSpPr>
            <p:cNvPr id="14" name="Shape 454">
              <a:extLst>
                <a:ext uri="{FF2B5EF4-FFF2-40B4-BE49-F238E27FC236}">
                  <a16:creationId xmlns:a16="http://schemas.microsoft.com/office/drawing/2014/main" id="{5AC3FBFF-E525-72BC-AB22-F2D91D06B418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4C7F490-192E-5127-D231-18D3EF82F4A6}"/>
                </a:ext>
              </a:extLst>
            </p:cNvPr>
            <p:cNvPicPr/>
            <p:nvPr/>
          </p:nvPicPr>
          <p:blipFill rotWithShape="1">
            <a:blip r:embed="rId3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F56AAF7-D52C-371A-CF3A-517E053F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7063"/>
            <a:ext cx="2482970" cy="457200"/>
          </a:xfrm>
        </p:spPr>
        <p:txBody>
          <a:bodyPr/>
          <a:lstStyle/>
          <a:p>
            <a:fld id="{64E2A06E-FD01-4319-9BA2-A5A831CBF123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17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731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Project Completion Status – 100% Completed</a:t>
            </a: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587914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8" name="Ring bg 178"/>
          <p:cNvSpPr/>
          <p:nvPr/>
        </p:nvSpPr>
        <p:spPr>
          <a:xfrm>
            <a:off x="800000" y="1650000"/>
            <a:ext cx="2500000" cy="2500000"/>
          </a:xfrm>
          <a:prstGeom prst="donut">
            <a:avLst>
              <a:gd name="adj" fmla="val 13000"/>
            </a:avLst>
          </a:prstGeom>
          <a:solidFill>
            <a:srgbClr val="E4E7EE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79" name="Ring fill 179"/>
          <p:cNvSpPr/>
          <p:nvPr/>
        </p:nvSpPr>
        <p:spPr>
          <a:xfrm>
            <a:off x="800000" y="1650000"/>
            <a:ext cx="2500000" cy="2500000"/>
          </a:xfrm>
          <a:prstGeom prst="donut">
            <a:avLst>
              <a:gd name="adj" fmla="val 1300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80" name="Ring text 180"/>
          <p:cNvSpPr txBox="1"/>
          <p:nvPr/>
        </p:nvSpPr>
        <p:spPr>
          <a:xfrm>
            <a:off x="800000" y="1650000"/>
            <a:ext cx="2500000" cy="25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4000" b="1" i="0" dirty="0">
                <a:solidFill>
                  <a:srgbClr val="1E2761"/>
                </a:solidFill>
                <a:latin typeface="Times New Roman"/>
                <a:cs typeface="Times New Roman"/>
              </a:rPr>
              <a:t>100%</a:t>
            </a:r>
          </a:p>
          <a:p>
            <a:pPr algn="ctr" marL="0" indent="0">
              <a:buNone/>
            </a:pPr>
            <a:r>
              <a:rPr lang="en-US" sz="1400" b="0" i="0" dirty="0">
                <a:solidFill>
                  <a:srgbClr val="4A5163"/>
                </a:solidFill>
                <a:latin typeface="Times New Roman"/>
                <a:cs typeface="Times New Roman"/>
              </a:rPr>
              <a:t>Complete</a:t>
            </a:r>
          </a:p>
        </p:txBody>
      </p:sp>
      <p:sp>
        <p:nvSpPr>
          <p:cNvPr id="181" name="Chip 181"/>
          <p:cNvSpPr/>
          <p:nvPr/>
        </p:nvSpPr>
        <p:spPr>
          <a:xfrm>
            <a:off x="640080" y="4350000"/>
            <a:ext cx="1000000" cy="6400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</a:p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182" name="Chip 182"/>
          <p:cNvSpPr/>
          <p:nvPr/>
        </p:nvSpPr>
        <p:spPr>
          <a:xfrm>
            <a:off x="1750080" y="4350000"/>
            <a:ext cx="1000000" cy="640000"/>
          </a:xfrm>
          <a:prstGeom prst="roundRect">
            <a:avLst>
              <a:gd name="adj" fmla="val 14000"/>
            </a:avLst>
          </a:prstGeom>
          <a:solidFill>
            <a:srgbClr val="F4B400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2000" b="1" i="0" dirty="0">
                <a:solidFill>
                  <a:srgbClr val="1A1A1A"/>
                </a:solidFill>
                <a:latin typeface="Times New Roman"/>
                <a:cs typeface="Times New Roman"/>
              </a:rPr>
              <a:t>0</a:t>
            </a:r>
          </a:p>
          <a:p>
            <a:pPr algn="ctr" marL="0" indent="0">
              <a:buNone/>
            </a:pPr>
            <a:r>
              <a:rPr lang="en-US" sz="1000" b="1" i="0" dirty="0">
                <a:solidFill>
                  <a:srgbClr val="1A1A1A"/>
                </a:solidFill>
                <a:latin typeface="Times New Roman"/>
                <a:cs typeface="Times New Roman"/>
              </a:rPr>
              <a:t>In Progress</a:t>
            </a:r>
          </a:p>
        </p:txBody>
      </p:sp>
      <p:sp>
        <p:nvSpPr>
          <p:cNvPr id="183" name="Chip 183"/>
          <p:cNvSpPr/>
          <p:nvPr/>
        </p:nvSpPr>
        <p:spPr>
          <a:xfrm>
            <a:off x="2860080" y="4350000"/>
            <a:ext cx="1000000" cy="640000"/>
          </a:xfrm>
          <a:prstGeom prst="roundRect">
            <a:avLst>
              <a:gd name="adj" fmla="val 14000"/>
            </a:avLst>
          </a:prstGeom>
          <a:solidFill>
            <a:srgbClr val="9AA3B5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</a:p>
          <a:p>
            <a:pPr algn="ctr" marL="0" indent="0"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Pending</a:t>
            </a:r>
          </a:p>
        </p:txBody>
      </p:sp>
      <p:sp>
        <p:nvSpPr>
          <p:cNvPr id="184" name="Card 184"/>
          <p:cNvSpPr/>
          <p:nvPr/>
        </p:nvSpPr>
        <p:spPr>
          <a:xfrm>
            <a:off x="3950000" y="1600000"/>
            <a:ext cx="5050000" cy="34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7DCE8"/>
            </a:solidFill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85" name="Card header 185"/>
          <p:cNvSpPr/>
          <p:nvPr/>
        </p:nvSpPr>
        <p:spPr>
          <a:xfrm>
            <a:off x="3950000" y="1600000"/>
            <a:ext cx="5050000" cy="420000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wrap="square" lIns="180000" tIns="0" rIns="100000" bIns="0" rtlCol="0" anchor="ctr">
            <a:noAutofit/>
          </a:bodyPr>
          <a:lstStyle/>
          <a:p>
            <a:pPr algn="l" marL="0" indent="0"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Work Completed</a:t>
            </a:r>
          </a:p>
        </p:txBody>
      </p:sp>
      <p:sp>
        <p:nvSpPr>
          <p:cNvPr id="186" name="Card body 186"/>
          <p:cNvSpPr txBox="1"/>
          <p:nvPr/>
        </p:nvSpPr>
        <p:spPr>
          <a:xfrm>
            <a:off x="4090000" y="2100000"/>
            <a:ext cx="4790000" cy="28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Aft>
                <a:spcPts val="500"/>
              </a:spcAft>
              <a:buClr>
                <a:srgbClr val="2E9E5B"/>
              </a:buClr>
              <a:buFont typeface="Arial"/>
              <a:buChar char="•"/>
            </a:pP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Dataset Preparation: </a:t>
            </a: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Load and preprocess the housing dataset; handle categorical values and prepare features.</a:t>
            </a:r>
          </a:p>
          <a:p>
            <a:pPr algn="l" marL="171450" indent="-171450">
              <a:spcAft>
                <a:spcPts val="500"/>
              </a:spcAft>
              <a:buClr>
                <a:srgbClr val="2E9E5B"/>
              </a:buClr>
              <a:buFont typeface="Arial"/>
              <a:buChar char="•"/>
            </a:pP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Model Training: </a:t>
            </a: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Train a Random Forest Regressor (400 trees) on the prepared dataset.</a:t>
            </a:r>
          </a:p>
          <a:p>
            <a:pPr algn="l" marL="171450" indent="-171450">
              <a:spcAft>
                <a:spcPts val="500"/>
              </a:spcAft>
              <a:buClr>
                <a:srgbClr val="2E9E5B"/>
              </a:buClr>
              <a:buFont typeface="Arial"/>
              <a:buChar char="•"/>
            </a:pP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Frontend–Backend Integration: </a:t>
            </a: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Connect the frontend to the Flask API to send house details and receive predicted prices.</a:t>
            </a:r>
          </a:p>
          <a:p>
            <a:pPr algn="l" marL="171450" indent="-171450">
              <a:spcAft>
                <a:spcPts val="500"/>
              </a:spcAft>
              <a:buClr>
                <a:srgbClr val="2E9E5B"/>
              </a:buClr>
              <a:buFont typeface="Arial"/>
              <a:buChar char="•"/>
            </a:pP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Price Prediction: </a:t>
            </a: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Display the estimated price (in Indian Rupees) from the entered features.</a:t>
            </a:r>
          </a:p>
          <a:p>
            <a:pPr algn="l" marL="171450" indent="-171450">
              <a:spcAft>
                <a:spcPts val="500"/>
              </a:spcAft>
              <a:buClr>
                <a:srgbClr val="2E9E5B"/>
              </a:buClr>
              <a:buFont typeface="Arial"/>
              <a:buChar char="•"/>
            </a:pP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Testing: </a:t>
            </a: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Test different inputs, check responses, and fix errors; R² = 0.949 on test data.</a:t>
            </a:r>
          </a:p>
          <a:p>
            <a:pPr algn="l" marL="171450" indent="-171450">
              <a:spcAft>
                <a:spcPts val="500"/>
              </a:spcAft>
              <a:buClr>
                <a:srgbClr val="2E9E5B"/>
              </a:buClr>
              <a:buFont typeface="Arial"/>
              <a:buChar char="•"/>
            </a:pP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UI Improvement: </a:t>
            </a: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Add house images, improve the layout, and make the website user-friendly.</a:t>
            </a:r>
          </a:p>
        </p:txBody>
      </p:sp>
      <p:sp>
        <p:nvSpPr>
          <p:cNvPr id="187" name="Card 187"/>
          <p:cNvSpPr/>
          <p:nvPr/>
        </p:nvSpPr>
        <p:spPr>
          <a:xfrm>
            <a:off x="9150000" y="1600000"/>
            <a:ext cx="2370000" cy="34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7DCE8"/>
            </a:solidFill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188" name="Card header 188"/>
          <p:cNvSpPr/>
          <p:nvPr/>
        </p:nvSpPr>
        <p:spPr>
          <a:xfrm>
            <a:off x="9150000" y="1600000"/>
            <a:ext cx="2370000" cy="420000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wrap="square" lIns="180000" tIns="0" rIns="100000" bIns="0" rtlCol="0" anchor="ctr">
            <a:noAutofit/>
          </a:bodyPr>
          <a:lstStyle/>
          <a:p>
            <a:pPr algn="l" marL="0" indent="0"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Final Phase (30%)</a:t>
            </a:r>
          </a:p>
        </p:txBody>
      </p:sp>
      <p:sp>
        <p:nvSpPr>
          <p:cNvPr id="189" name="Card body 189"/>
          <p:cNvSpPr txBox="1"/>
          <p:nvPr/>
        </p:nvSpPr>
        <p:spPr>
          <a:xfrm>
            <a:off x="9270000" y="2100000"/>
            <a:ext cx="2130000" cy="28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Aft>
                <a:spcPts val="7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Model Evaluation &amp; Accuracy Testing – </a:t>
            </a: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10% (done)</a:t>
            </a:r>
          </a:p>
          <a:p>
            <a:pPr algn="l" marL="171450" indent="-171450">
              <a:spcAft>
                <a:spcPts val="7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Integration &amp; Error Handling – </a:t>
            </a: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8% (done)</a:t>
            </a:r>
          </a:p>
          <a:p>
            <a:pPr algn="l" marL="171450" indent="-171450">
              <a:spcAft>
                <a:spcPts val="7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Final UI Improvements – </a:t>
            </a: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5% (done)</a:t>
            </a:r>
          </a:p>
          <a:p>
            <a:pPr algn="l" marL="171450" indent="-171450">
              <a:spcAft>
                <a:spcPts val="7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Times New Roman"/>
                <a:cs typeface="Times New Roman"/>
              </a:rPr>
              <a:t>Documentation &amp; Final Presentation – </a:t>
            </a:r>
            <a:r>
              <a:rPr lang="en-US" sz="1300" b="1" i="0" dirty="0">
                <a:solidFill>
                  <a:srgbClr val="1A1A1A"/>
                </a:solidFill>
                <a:latin typeface="Times New Roman"/>
                <a:cs typeface="Times New Roman"/>
              </a:rPr>
              <a:t>7% (done)</a:t>
            </a:r>
          </a:p>
        </p:txBody>
      </p:sp>
      <p:sp>
        <p:nvSpPr>
          <p:cNvPr id="190" name="Next milestone 190"/>
          <p:cNvSpPr/>
          <p:nvPr/>
        </p:nvSpPr>
        <p:spPr>
          <a:xfrm>
            <a:off x="640080" y="5200000"/>
            <a:ext cx="10881359" cy="700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250000" tIns="0" rIns="250000" bIns="0" rtlCol="0" anchor="ctr">
            <a:noAutofit/>
          </a:bodyPr>
          <a:lstStyle/>
          <a:p>
            <a:pPr algn="l" marL="0" indent="0">
              <a:buNone/>
            </a:pPr>
            <a:r>
              <a:rPr lang="en-US" sz="1400" b="1" i="0" dirty="0">
                <a:solidFill>
                  <a:srgbClr val="F4D35E"/>
                </a:solidFill>
                <a:latin typeface="Times New Roman"/>
                <a:cs typeface="Times New Roman"/>
              </a:rPr>
              <a:t>Final status:  </a:t>
            </a:r>
            <a:r>
              <a:rPr lang="en-US" sz="1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all modules are integrated and tested end-to-end; the model is evaluated (R² = 0.949, MAE ≈ Rs. 3.55 lakh); the project report and final presentation are complete and ready for submission.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DF855-5E8A-3E80-C459-861A7576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587914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7A2627D-A0BC-5083-A485-59D5040555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587914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</p:spTree>
    <p:extLst>
      <p:ext uri="{BB962C8B-B14F-4D97-AF65-F5344CB8AC3E}">
        <p14:creationId xmlns:p14="http://schemas.microsoft.com/office/powerpoint/2010/main" val="4013760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Final Phase – 30% Work Completed</a:t>
            </a: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587914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DF855-5E8A-3E80-C459-861A7576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587914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7A2627D-A0BC-5083-A485-59D5040555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587914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  <p:sp>
        <p:nvSpPr>
          <p:cNvPr id="300" name="Rem card 0"/>
          <p:cNvSpPr/>
          <p:nvPr/>
        </p:nvSpPr>
        <p:spPr>
          <a:xfrm>
            <a:off x="640080" y="1500000"/>
            <a:ext cx="2585339" cy="3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7DCE8"/>
            </a:solidFill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01" name="Rem header 0"/>
          <p:cNvSpPr/>
          <p:nvPr/>
        </p:nvSpPr>
        <p:spPr>
          <a:xfrm>
            <a:off x="640080" y="1500000"/>
            <a:ext cx="2585339" cy="6400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wrap="square" lIns="120000" tIns="0" rIns="100000" bIns="0" rtlCol="0" anchor="ctr">
            <a:noAutofit/>
          </a:bodyPr>
          <a:lstStyle/>
          <a:p>
            <a:pPr algn="l" marL="0" indent="0"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1. Model Evaluation and Accuracy Testing</a:t>
            </a:r>
          </a:p>
        </p:txBody>
      </p:sp>
      <p:sp>
        <p:nvSpPr>
          <p:cNvPr id="302" name="Rem pct 0"/>
          <p:cNvSpPr txBox="1"/>
          <p:nvPr/>
        </p:nvSpPr>
        <p:spPr>
          <a:xfrm>
            <a:off x="760080" y="2200000"/>
            <a:ext cx="2345339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2800" b="1" i="0" dirty="0">
                <a:solidFill>
                  <a:srgbClr val="1E2761"/>
                </a:solidFill>
                <a:latin typeface="Times New Roman"/>
                <a:cs typeface="Times New Roman"/>
              </a:rPr>
              <a:t>10% – Done</a:t>
            </a:r>
          </a:p>
        </p:txBody>
      </p:sp>
      <p:sp>
        <p:nvSpPr>
          <p:cNvPr id="303" name="Rem body 0"/>
          <p:cNvSpPr txBox="1"/>
          <p:nvPr/>
        </p:nvSpPr>
        <p:spPr>
          <a:xfrm>
            <a:off x="760080" y="2740000"/>
            <a:ext cx="2345339" cy="2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Evaluated on a held-out 20% test set (440 samples) using MAE and R².</a:t>
            </a:r>
          </a:p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Achieved R² = 0.949 and MAE ≈ Rs. 3.55 lakh.</a:t>
            </a:r>
          </a:p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Confirmed predicted prices are reasonable across the Rs. 17.5 lakh – 1.33 crore range.</a:t>
            </a:r>
          </a:p>
        </p:txBody>
      </p:sp>
      <p:sp>
        <p:nvSpPr>
          <p:cNvPr id="304" name="Rem card 1"/>
          <p:cNvSpPr/>
          <p:nvPr/>
        </p:nvSpPr>
        <p:spPr>
          <a:xfrm>
            <a:off x="3405419" y="1500000"/>
            <a:ext cx="2585339" cy="3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7DCE8"/>
            </a:solidFill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05" name="Rem header 1"/>
          <p:cNvSpPr/>
          <p:nvPr/>
        </p:nvSpPr>
        <p:spPr>
          <a:xfrm>
            <a:off x="3405419" y="1500000"/>
            <a:ext cx="2585339" cy="6400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wrap="square" lIns="120000" tIns="0" rIns="100000" bIns="0" rtlCol="0" anchor="ctr">
            <a:noAutofit/>
          </a:bodyPr>
          <a:lstStyle/>
          <a:p>
            <a:pPr algn="l" marL="0" indent="0"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2. Integration and Error Handling</a:t>
            </a:r>
          </a:p>
        </p:txBody>
      </p:sp>
      <p:sp>
        <p:nvSpPr>
          <p:cNvPr id="306" name="Rem pct 1"/>
          <p:cNvSpPr txBox="1"/>
          <p:nvPr/>
        </p:nvSpPr>
        <p:spPr>
          <a:xfrm>
            <a:off x="3525419" y="2200000"/>
            <a:ext cx="2345339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2800" b="1" i="0" dirty="0">
                <a:solidFill>
                  <a:srgbClr val="1E2761"/>
                </a:solidFill>
                <a:latin typeface="Times New Roman"/>
                <a:cs typeface="Times New Roman"/>
              </a:rPr>
              <a:t>8% – Done</a:t>
            </a:r>
          </a:p>
        </p:txBody>
      </p:sp>
      <p:sp>
        <p:nvSpPr>
          <p:cNvPr id="307" name="Rem body 1"/>
          <p:cNvSpPr txBox="1"/>
          <p:nvPr/>
        </p:nvSpPr>
        <p:spPr>
          <a:xfrm>
            <a:off x="3525419" y="2740000"/>
            <a:ext cx="2345339" cy="2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Tested frontend ↔ Flask backend communication end-to-end.</a:t>
            </a:r>
          </a:p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Fixed prediction errors; invalid input now returns clear 400 messages.</a:t>
            </a:r>
          </a:p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Verified the price changes appropriately when inputs change.</a:t>
            </a:r>
          </a:p>
        </p:txBody>
      </p:sp>
      <p:sp>
        <p:nvSpPr>
          <p:cNvPr id="308" name="Rem card 2"/>
          <p:cNvSpPr/>
          <p:nvPr/>
        </p:nvSpPr>
        <p:spPr>
          <a:xfrm>
            <a:off x="6170758" y="1500000"/>
            <a:ext cx="2585339" cy="3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7DCE8"/>
            </a:solidFill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09" name="Rem header 2"/>
          <p:cNvSpPr/>
          <p:nvPr/>
        </p:nvSpPr>
        <p:spPr>
          <a:xfrm>
            <a:off x="6170758" y="1500000"/>
            <a:ext cx="2585339" cy="6400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wrap="square" lIns="120000" tIns="0" rIns="100000" bIns="0" rtlCol="0" anchor="ctr">
            <a:noAutofit/>
          </a:bodyPr>
          <a:lstStyle/>
          <a:p>
            <a:pPr algn="l" marL="0" indent="0"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3. Final UI Improvements</a:t>
            </a:r>
          </a:p>
        </p:txBody>
      </p:sp>
      <p:sp>
        <p:nvSpPr>
          <p:cNvPr id="310" name="Rem pct 2"/>
          <p:cNvSpPr txBox="1"/>
          <p:nvPr/>
        </p:nvSpPr>
        <p:spPr>
          <a:xfrm>
            <a:off x="6290758" y="2200000"/>
            <a:ext cx="2345339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2800" b="1" i="0" dirty="0">
                <a:solidFill>
                  <a:srgbClr val="1E2761"/>
                </a:solidFill>
                <a:latin typeface="Times New Roman"/>
                <a:cs typeface="Times New Roman"/>
              </a:rPr>
              <a:t>5% – Done</a:t>
            </a:r>
          </a:p>
        </p:txBody>
      </p:sp>
      <p:sp>
        <p:nvSpPr>
          <p:cNvPr id="311" name="Rem body 2"/>
          <p:cNvSpPr txBox="1"/>
          <p:nvPr/>
        </p:nvSpPr>
        <p:spPr>
          <a:xfrm>
            <a:off x="6290758" y="2740000"/>
            <a:ext cx="2345339" cy="2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Finished the blueprint-style design and responsive layout.</a:t>
            </a:r>
          </a:p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Added live house sketch and animated appraisal-stamp result.</a:t>
            </a:r>
          </a:p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Added client-side validation and plain-language error messages.</a:t>
            </a:r>
          </a:p>
        </p:txBody>
      </p:sp>
      <p:sp>
        <p:nvSpPr>
          <p:cNvPr id="312" name="Rem card 3"/>
          <p:cNvSpPr/>
          <p:nvPr/>
        </p:nvSpPr>
        <p:spPr>
          <a:xfrm>
            <a:off x="8936097" y="1500000"/>
            <a:ext cx="2585339" cy="3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7DCE8"/>
            </a:solidFill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13" name="Rem header 3"/>
          <p:cNvSpPr/>
          <p:nvPr/>
        </p:nvSpPr>
        <p:spPr>
          <a:xfrm>
            <a:off x="8936097" y="1500000"/>
            <a:ext cx="2585339" cy="6400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wrap="square" lIns="120000" tIns="0" rIns="100000" bIns="0" rtlCol="0" anchor="ctr">
            <a:noAutofit/>
          </a:bodyPr>
          <a:lstStyle/>
          <a:p>
            <a:pPr algn="l" marL="0" indent="0"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4. Documentation and Final Presentation</a:t>
            </a:r>
          </a:p>
        </p:txBody>
      </p:sp>
      <p:sp>
        <p:nvSpPr>
          <p:cNvPr id="314" name="Rem pct 3"/>
          <p:cNvSpPr txBox="1"/>
          <p:nvPr/>
        </p:nvSpPr>
        <p:spPr>
          <a:xfrm>
            <a:off x="9056097" y="2200000"/>
            <a:ext cx="2345339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2800" b="1" i="0" dirty="0">
                <a:solidFill>
                  <a:srgbClr val="1E2761"/>
                </a:solidFill>
                <a:latin typeface="Times New Roman"/>
                <a:cs typeface="Times New Roman"/>
              </a:rPr>
              <a:t>7% – Done</a:t>
            </a:r>
          </a:p>
        </p:txBody>
      </p:sp>
      <p:sp>
        <p:nvSpPr>
          <p:cNvPr id="315" name="Rem body 3"/>
          <p:cNvSpPr txBox="1"/>
          <p:nvPr/>
        </p:nvSpPr>
        <p:spPr>
          <a:xfrm>
            <a:off x="9056097" y="2740000"/>
            <a:ext cx="2345339" cy="2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Completed the project report and final PPT.</a:t>
            </a:r>
          </a:p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Captured screenshots of the working website.</a:t>
            </a:r>
          </a:p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Documented architecture, dataset, algorithm, results and limitations.</a:t>
            </a:r>
          </a:p>
          <a:p>
            <a:pPr algn="l" marL="171450" indent="-171450">
              <a:spcAft>
                <a:spcPts val="600"/>
              </a:spcAft>
              <a:buClr>
                <a:srgbClr val="B5890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Demonstration ready; source-code archive prepared.</a:t>
            </a:r>
          </a:p>
        </p:txBody>
      </p:sp>
      <p:sp>
        <p:nvSpPr>
          <p:cNvPr id="316" name="Total bar"/>
          <p:cNvSpPr/>
          <p:nvPr/>
        </p:nvSpPr>
        <p:spPr>
          <a:xfrm>
            <a:off x="640080" y="5200000"/>
            <a:ext cx="10881359" cy="600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250000" tIns="0" rIns="25000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i="0" dirty="0">
                <a:solidFill>
                  <a:srgbClr val="F4D35E"/>
                </a:solidFill>
                <a:latin typeface="Times New Roman"/>
                <a:cs typeface="Times New Roman"/>
              </a:rPr>
              <a:t>Total work completed:  </a:t>
            </a:r>
            <a:r>
              <a:rPr lang="en-US" sz="1600" b="0" i="0" dirty="0">
                <a:solidFill>
                  <a:srgbClr val="FFFFFF"/>
                </a:solidFill>
                <a:latin typeface="Times New Roman"/>
                <a:cs typeface="Times New Roman"/>
              </a:rPr>
              <a:t>70% + 30% = 100%</a:t>
            </a:r>
          </a:p>
        </p:txBody>
      </p:sp>
    </p:spTree>
    <p:extLst>
      <p:ext uri="{BB962C8B-B14F-4D97-AF65-F5344CB8AC3E}">
        <p14:creationId xmlns:p14="http://schemas.microsoft.com/office/powerpoint/2010/main" val="4013760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1E2761"/>
                </a:solidFill>
                <a:latin typeface="Times New Roman"/>
              </a:rPr>
              <a:t>Working System – Final Application Screenshots</a:t>
            </a: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642482" y="6594813"/>
            <a:ext cx="10711318" cy="237634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358283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8962BAC-CA70-645B-8D2C-C609F9F7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5036"/>
            <a:ext cx="2743200" cy="803130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18-oct-26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1778178-C2EA-D0B6-3899-5A650543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674178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House Price Prediction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8CBF610-538A-A3D3-615D-2DA7F3A6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4500"/>
            <a:ext cx="2465717" cy="453885"/>
          </a:xfrm>
        </p:spPr>
        <p:txBody>
          <a:bodyPr/>
          <a:lstStyle/>
          <a:p>
            <a:fld id="{64E2A06E-FD01-4319-9BA2-A5A831CBF123}" type="slidenum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fld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0" name="Landing screenshot" descr="Appraise landing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00" y="1850000"/>
            <a:ext cx="5100000" cy="3278571"/>
          </a:xfrm>
          <a:prstGeom prst="rect">
            <a:avLst/>
          </a:prstGeom>
          <a:ln w="12700">
            <a:solidFill>
              <a:srgbClr val="D3D9E8"/>
            </a:solidFill>
          </a:ln>
        </p:spPr>
      </p:pic>
      <p:pic>
        <p:nvPicPr>
          <p:cNvPr id="41" name="Form screenshot" descr="Appraise property input for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000" y="1850000"/>
            <a:ext cx="5100000" cy="3642857"/>
          </a:xfrm>
          <a:prstGeom prst="rect">
            <a:avLst/>
          </a:prstGeom>
          <a:ln w="12700">
            <a:solidFill>
              <a:srgbClr val="D3D9E8"/>
            </a:solidFill>
          </a:ln>
        </p:spPr>
      </p:pic>
      <p:sp>
        <p:nvSpPr>
          <p:cNvPr id="42" name="Caption 1"/>
          <p:cNvSpPr txBox="1"/>
          <p:nvPr/>
        </p:nvSpPr>
        <p:spPr>
          <a:xfrm>
            <a:off x="746000" y="5612857"/>
            <a:ext cx="5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1A1A1A"/>
                </a:solidFill>
                <a:latin typeface="Times New Roman"/>
              </a:rPr>
              <a:t>Landing page – R² = 0.95, 12 input signals, &lt; 1 sec</a:t>
            </a:r>
          </a:p>
        </p:txBody>
      </p:sp>
      <p:sp>
        <p:nvSpPr>
          <p:cNvPr id="43" name="Caption 2"/>
          <p:cNvSpPr txBox="1"/>
          <p:nvPr/>
        </p:nvSpPr>
        <p:spPr>
          <a:xfrm>
            <a:off x="6346000" y="5612857"/>
            <a:ext cx="5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1A1A1A"/>
                </a:solidFill>
                <a:latin typeface="Times New Roman"/>
              </a:rPr>
              <a:t>Property input form with live house sketch</a:t>
            </a:r>
          </a:p>
        </p:txBody>
      </p:sp>
    </p:spTree>
    <p:extLst>
      <p:ext uri="{BB962C8B-B14F-4D97-AF65-F5344CB8AC3E}">
        <p14:creationId xmlns:p14="http://schemas.microsoft.com/office/powerpoint/2010/main" val="2333218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1666</Words>
  <Application>Microsoft Office PowerPoint</Application>
  <PresentationFormat>Widescreen</PresentationFormat>
  <Paragraphs>225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Ajile</vt:lpstr>
      <vt:lpstr>Arial</vt:lpstr>
      <vt:lpstr>Calibri</vt:lpstr>
      <vt:lpstr>Calibri Light</vt:lpstr>
      <vt:lpstr>Cambria</vt:lpstr>
      <vt:lpstr>Times New Roman</vt:lpstr>
      <vt:lpstr>Office Theme</vt:lpstr>
      <vt:lpstr> Semester Project – I “HOUSE PRICE PREDICTION” By Khushi Anil Patil (251103033  &amp; 104) Chetana Vijay Kolhe (251104026  &amp;  105) Swara Jitendra Chaudhari(251108108 &amp; 90) Apeksha Rajendra Baviskar(251108082 &amp; 68)  Under the Guidance of  Prof. Tushant A. Tayde </vt:lpstr>
      <vt:lpstr>Outline </vt:lpstr>
      <vt:lpstr>Project Title &amp; Team Introduction</vt:lpstr>
      <vt:lpstr>Domain Overview</vt:lpstr>
      <vt:lpstr>Problem Statement</vt:lpstr>
      <vt:lpstr>Literature Survey</vt:lpstr>
      <vt:lpstr>Research Gap &amp; Motivation</vt:lpstr>
      <vt:lpstr>Comparative Analysis</vt:lpstr>
      <vt:lpstr>Proposed Methodology – System Architecture</vt:lpstr>
      <vt:lpstr>Proposed Methodology – Dataset &amp; Model</vt:lpstr>
      <vt:lpstr>Proposed Methodology – Application Workflow</vt:lpstr>
      <vt:lpstr>Software and Hardware Requirements</vt:lpstr>
      <vt:lpstr>Timeline / Gantt Chart</vt:lpstr>
      <vt:lpstr>Expected Outcome</vt:lpstr>
      <vt:lpstr>Conclusion and 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RCPIT</dc:creator>
  <cp:lastModifiedBy>Apeksha Baviskar</cp:lastModifiedBy>
  <cp:revision>26</cp:revision>
  <dcterms:created xsi:type="dcterms:W3CDTF">2023-11-04T09:41:24Z</dcterms:created>
  <dcterms:modified xsi:type="dcterms:W3CDTF">2026-09-10T12:33:46Z</dcterms:modified>
</cp:coreProperties>
</file>